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fbe19243a74680" /><Relationship Type="http://schemas.openxmlformats.org/officeDocument/2006/relationships/extended-properties" Target="/docProps/app.xml" Id="R3ed0fcc2d7a74c7d" /><Relationship Type="http://schemas.openxmlformats.org/officeDocument/2006/relationships/officeDocument" Target="/ppt/presentation.xml" Id="R4c051047cf2b44be" /></Relationships>
</file>

<file path=ppt/presentation.xml><?xml version="1.0" encoding="utf-8"?>
<p:presentation xmlns:p="http://schemas.openxmlformats.org/presentationml/2006/main">
  <p:sldMasterIdLst>
    <p:sldMasterId xmlns:r="http://schemas.openxmlformats.org/officeDocument/2006/relationships" id="2147483648" r:id="R7507c7fd5e1d4e21"/>
  </p:sldMasterIdLst>
  <p:notesMasterIdLst>
    <p:notesMasterId xmlns:r="http://schemas.openxmlformats.org/officeDocument/2006/relationships" r:id="R1eae27a86f084840"/>
  </p:notesMasterIdLst>
  <p:sldIdLst>
    <p:sldId xmlns:r="http://schemas.openxmlformats.org/officeDocument/2006/relationships" id="256" r:id="R5a8402091762403a"/>
    <p:sldId xmlns:r="http://schemas.openxmlformats.org/officeDocument/2006/relationships" id="257" r:id="R64641d2206d147a3"/>
    <p:sldId xmlns:r="http://schemas.openxmlformats.org/officeDocument/2006/relationships" id="258" r:id="Rdb4f200eb9fb48bc"/>
    <p:sldId xmlns:r="http://schemas.openxmlformats.org/officeDocument/2006/relationships" id="259" r:id="Rbd853aca6a2a4d32"/>
    <p:sldId xmlns:r="http://schemas.openxmlformats.org/officeDocument/2006/relationships" id="260" r:id="Rf1d996699a5c485a"/>
    <p:sldId xmlns:r="http://schemas.openxmlformats.org/officeDocument/2006/relationships" id="261" r:id="Rca218b0442214a74"/>
    <p:sldId xmlns:r="http://schemas.openxmlformats.org/officeDocument/2006/relationships" id="262" r:id="R1104eb4d7b00423d"/>
    <p:sldId xmlns:r="http://schemas.openxmlformats.org/officeDocument/2006/relationships" id="263" r:id="Rc69d9e73661e4612"/>
    <p:sldId xmlns:r="http://schemas.openxmlformats.org/officeDocument/2006/relationships" id="264" r:id="R675c62cc1d2642ee"/>
    <p:sldId xmlns:r="http://schemas.openxmlformats.org/officeDocument/2006/relationships" id="265" r:id="R506f452ce62a401d"/>
    <p:sldId xmlns:r="http://schemas.openxmlformats.org/officeDocument/2006/relationships" id="266" r:id="R9643812c88bc4935"/>
    <p:sldId xmlns:r="http://schemas.openxmlformats.org/officeDocument/2006/relationships" id="267" r:id="R04147b952fad4f53"/>
    <p:sldId xmlns:r="http://schemas.openxmlformats.org/officeDocument/2006/relationships" id="268" r:id="Rfa7da51f9d1441fa"/>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9551409a4ef431a" /><Relationship Type="http://schemas.openxmlformats.org/officeDocument/2006/relationships/slideMaster" Target="/ppt/slideMasters/slideMaster1.xml" Id="R7507c7fd5e1d4e21" /><Relationship Type="http://schemas.openxmlformats.org/officeDocument/2006/relationships/notesMaster" Target="/ppt/notesMasters/notesMaster1.xml" Id="R1eae27a86f084840" /><Relationship Type="http://schemas.openxmlformats.org/officeDocument/2006/relationships/presProps" Target="/ppt/presProps.xml" Id="Re377b7bcf6b94f07" /><Relationship Type="http://schemas.openxmlformats.org/officeDocument/2006/relationships/viewProps" Target="/ppt/viewProps.xml" Id="R8609a02b2c1c453e" /><Relationship Type="http://schemas.openxmlformats.org/officeDocument/2006/relationships/tableStyles" Target="/ppt/tableStyles.xml" Id="R64a19e9b47ab4cfa" /><Relationship Type="http://schemas.openxmlformats.org/officeDocument/2006/relationships/slide" Target="/ppt/slides/slide1.xml" Id="R5a8402091762403a" /><Relationship Type="http://schemas.openxmlformats.org/officeDocument/2006/relationships/slide" Target="/ppt/slides/slide2.xml" Id="R64641d2206d147a3" /><Relationship Type="http://schemas.openxmlformats.org/officeDocument/2006/relationships/slide" Target="/ppt/slides/slide3.xml" Id="Rdb4f200eb9fb48bc" /><Relationship Type="http://schemas.openxmlformats.org/officeDocument/2006/relationships/slide" Target="/ppt/slides/slide4.xml" Id="Rbd853aca6a2a4d32" /><Relationship Type="http://schemas.openxmlformats.org/officeDocument/2006/relationships/slide" Target="/ppt/slides/slide5.xml" Id="Rf1d996699a5c485a" /><Relationship Type="http://schemas.openxmlformats.org/officeDocument/2006/relationships/slide" Target="/ppt/slides/slide6.xml" Id="Rca218b0442214a74" /><Relationship Type="http://schemas.openxmlformats.org/officeDocument/2006/relationships/slide" Target="/ppt/slides/slide7.xml" Id="R1104eb4d7b00423d" /><Relationship Type="http://schemas.openxmlformats.org/officeDocument/2006/relationships/slide" Target="/ppt/slides/slide8.xml" Id="Rc69d9e73661e4612" /><Relationship Type="http://schemas.openxmlformats.org/officeDocument/2006/relationships/slide" Target="/ppt/slides/slide9.xml" Id="R675c62cc1d2642ee" /><Relationship Type="http://schemas.openxmlformats.org/officeDocument/2006/relationships/slide" Target="/ppt/slides/slide10.xml" Id="R506f452ce62a401d" /><Relationship Type="http://schemas.openxmlformats.org/officeDocument/2006/relationships/slide" Target="/ppt/slides/slide11.xml" Id="R9643812c88bc4935" /><Relationship Type="http://schemas.openxmlformats.org/officeDocument/2006/relationships/slide" Target="/ppt/slides/slide12.xml" Id="R04147b952fad4f53" /><Relationship Type="http://schemas.openxmlformats.org/officeDocument/2006/relationships/slide" Target="/ppt/slides/slide13.xml" Id="Rfa7da51f9d1441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34370424cb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95430e34794b53" /><Relationship Type="http://schemas.openxmlformats.org/officeDocument/2006/relationships/notesMaster" Target="/ppt/notesMasters/notesMaster1.xml" Id="R1f7c2a9bb99e41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1fc3baa1ef45d3" /><Relationship Type="http://schemas.openxmlformats.org/officeDocument/2006/relationships/notesMaster" Target="/ppt/notesMasters/notesMaster1.xml" Id="R6be9976d5ad64c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5e8607e34b4784" /><Relationship Type="http://schemas.openxmlformats.org/officeDocument/2006/relationships/notesMaster" Target="/ppt/notesMasters/notesMaster1.xml" Id="R834801df82de47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cba98287a14848" /><Relationship Type="http://schemas.openxmlformats.org/officeDocument/2006/relationships/notesMaster" Target="/ppt/notesMasters/notesMaster1.xml" Id="Rd06d2281fcc747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16a73d75b844bd" /><Relationship Type="http://schemas.openxmlformats.org/officeDocument/2006/relationships/notesMaster" Target="/ppt/notesMasters/notesMaster1.xml" Id="Refdad6a90cd04e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0a3ca2e12e473a" /><Relationship Type="http://schemas.openxmlformats.org/officeDocument/2006/relationships/notesMaster" Target="/ppt/notesMasters/notesMaster1.xml" Id="Rb5ce2062ec344d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f56542957b4dc3" /><Relationship Type="http://schemas.openxmlformats.org/officeDocument/2006/relationships/notesMaster" Target="/ppt/notesMasters/notesMaster1.xml" Id="R3e12bdde0a9a47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4b09e33c114b72" /><Relationship Type="http://schemas.openxmlformats.org/officeDocument/2006/relationships/notesMaster" Target="/ppt/notesMasters/notesMaster1.xml" Id="R116bfd2d5e6a4c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daac18dd94da8" /><Relationship Type="http://schemas.openxmlformats.org/officeDocument/2006/relationships/notesMaster" Target="/ppt/notesMasters/notesMaster1.xml" Id="R2a291428bfa742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f8e2802b7f4e7b" /><Relationship Type="http://schemas.openxmlformats.org/officeDocument/2006/relationships/notesMaster" Target="/ppt/notesMasters/notesMaster1.xml" Id="R98bf9cd8ba5342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e37249213b46d7" /><Relationship Type="http://schemas.openxmlformats.org/officeDocument/2006/relationships/notesMaster" Target="/ppt/notesMasters/notesMaster1.xml" Id="Rb08d876c015c43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a2748479964edb" /><Relationship Type="http://schemas.openxmlformats.org/officeDocument/2006/relationships/notesMaster" Target="/ppt/notesMasters/notesMaster1.xml" Id="Rbca3bb08f88e4c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1ee1a9f2de41ff" /><Relationship Type="http://schemas.openxmlformats.org/officeDocument/2006/relationships/notesMaster" Target="/ppt/notesMasters/notesMaster1.xml" Id="R7c336ed8914a49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docs/02-system-architecture.md</a:t>
            </a:r>
            <a:endParaRPr/>
          </a:p>
          <a:p xmlns:a="http://schemas.openxmlformats.org/drawingml/2006/main">
            <a:r>
              <a:t>Source: api/package.json and web/package.json</a:t>
            </a:r>
            <a:endParaRPr/>
          </a:p>
          <a:p xmlns:a="http://schemas.openxmlformats.org/drawingml/2006/main">
            <a:r>
              <a:t>Source: docker-compose.yml</a:t>
            </a:r>
            <a:endParaRPr/>
          </a:p>
          <a:p xmlns:a="http://schemas.openxmlformats.org/drawingml/2006/main">
            <a:r>
              <a:t>Current checkout reviewed on 24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api/src/db/seed/permission-codes.ts</a:t>
            </a:r>
            <a:endParaRPr/>
          </a:p>
          <a:p xmlns:a="http://schemas.openxmlformats.org/drawingml/2006/main">
            <a:r>
              <a:t>Source: api/src/db/seed/roles-permissions-data.ts</a:t>
            </a:r>
            <a:endParaRPr/>
          </a:p>
          <a:p xmlns:a="http://schemas.openxmlformats.org/drawingml/2006/main">
            <a:r>
              <a:t>Source: api/src/middleware/require-permission.ts</a:t>
            </a:r>
            <a:endParaRPr/>
          </a:p>
          <a:p xmlns:a="http://schemas.openxmlformats.org/drawingml/2006/main">
            <a:r>
              <a:t>Source: api/src/modules/auth/access-scope.ts</a:t>
            </a:r>
            <a:endParaRPr/>
          </a:p>
          <a:p xmlns:a="http://schemas.openxmlformats.org/drawingml/2006/main">
            <a:r>
              <a:t>The current worktree seeds Administrator, Blood Bank Staff and Hospital Staff.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api/src/db/schema/index.ts and every schema module exported from it.</a:t>
            </a:r>
            <a:endParaRPr/>
          </a:p>
          <a:p xmlns:a="http://schemas.openxmlformats.org/drawingml/2006/main">
            <a:r>
              <a:t>The current schema contains 21 mysqlTable declarations.</a:t>
            </a:r>
            <a:endParaRPr/>
          </a:p>
          <a:p xmlns:a="http://schemas.openxmlformats.org/drawingml/2006/main">
            <a:r>
              <a:t>Core foreign keys link donors to users and blood groups, donations to donors and centres, inventory to donations and facilities, requests and demand to facilities, predictions to blood groups and facilities, alerts to predictions, and notifications to donors and alerts.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docs/02-system-architecture.md</a:t>
            </a:r>
            <a:endParaRPr/>
          </a:p>
          <a:p xmlns:a="http://schemas.openxmlformats.org/drawingml/2006/main">
            <a:r>
              <a:t>Source: api/src/modules and api/src/db/schema</a:t>
            </a:r>
            <a:endParaRPr/>
          </a:p>
          <a:p xmlns:a="http://schemas.openxmlformats.org/drawingml/2006/main">
            <a:r>
              <a:t>The API remains authoritative for authorization, stock rules, alert creation, donor matching, notifications and persistence.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69284a3b814ef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66aac87d954b38" /><Relationship Type="http://schemas.openxmlformats.org/officeDocument/2006/relationships/slideLayout" Target="/ppt/slideLayouts/slideLayout1.xml" Id="R1a68c472149d4f8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68c472149d4f8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9d7f166a9e4d25" /><Relationship Type="http://schemas.openxmlformats.org/officeDocument/2006/relationships/image" Target="/ppt/media/image.png" Id="R3b4d7898e1f54897" /><Relationship Type="http://schemas.openxmlformats.org/officeDocument/2006/relationships/notesSlide" Target="/ppt/notesSlides/notesSlide1.xml" Id="R104dc442757a4c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e8234084c44c18" /><Relationship Type="http://schemas.openxmlformats.org/officeDocument/2006/relationships/notesSlide" Target="/ppt/notesSlides/notesSlide2.xml" Id="R589c4ad33db441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0657a9267949ea" /><Relationship Type="http://schemas.openxmlformats.org/officeDocument/2006/relationships/notesSlide" Target="/ppt/notesSlides/notesSlide3.xml" Id="Red66204a2d8246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93c5b808444073" /><Relationship Type="http://schemas.openxmlformats.org/officeDocument/2006/relationships/notesSlide" Target="/ppt/notesSlides/notesSlide4.xml" Id="R53e5696da72a4f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109398d02d456f" /><Relationship Type="http://schemas.openxmlformats.org/officeDocument/2006/relationships/notesSlide" Target="/ppt/notesSlides/notesSlide5.xml" Id="R8e58bbfe961b40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862bce1e424ec4" /><Relationship Type="http://schemas.openxmlformats.org/officeDocument/2006/relationships/notesSlide" Target="/ppt/notesSlides/notesSlide6.xml" Id="R51d2ee782c8b49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245a0b10d245ad" /><Relationship Type="http://schemas.openxmlformats.org/officeDocument/2006/relationships/notesSlide" Target="/ppt/notesSlides/notesSlide7.xml" Id="Rcc66fbcb666446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28602f2bed4f55" /><Relationship Type="http://schemas.openxmlformats.org/officeDocument/2006/relationships/notesSlide" Target="/ppt/notesSlides/notesSlide8.xml" Id="R94bb091b11bb45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e15cb74fc746f2" /><Relationship Type="http://schemas.openxmlformats.org/officeDocument/2006/relationships/image" Target="/ppt/media/image2.png" Id="R4c6fc1c6f04240c4" /><Relationship Type="http://schemas.openxmlformats.org/officeDocument/2006/relationships/notesSlide" Target="/ppt/notesSlides/notesSlide9.xml" Id="Rb86140f75f1043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fd8003dcc654fc7" /><Relationship Type="http://schemas.openxmlformats.org/officeDocument/2006/relationships/image" Target="/ppt/media/image3.png" Id="R8b615a342d0145c2" /><Relationship Type="http://schemas.openxmlformats.org/officeDocument/2006/relationships/image" Target="/ppt/media/image4.png" Id="Rd2f6c9202dc14215" /><Relationship Type="http://schemas.openxmlformats.org/officeDocument/2006/relationships/image" Target="/ppt/media/image5.png" Id="R33885ae1e77d4915" /><Relationship Type="http://schemas.openxmlformats.org/officeDocument/2006/relationships/notesSlide" Target="/ppt/notesSlides/notesSlide10.xml" Id="R453c552d117c46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715f183a7e49cf" /><Relationship Type="http://schemas.openxmlformats.org/officeDocument/2006/relationships/image" Target="/ppt/media/image6.png" Id="Rab6386160b314ddf" /><Relationship Type="http://schemas.openxmlformats.org/officeDocument/2006/relationships/notesSlide" Target="/ppt/notesSlides/notesSlide11.xml" Id="R345a415fdaf94d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e2d74ec22b41a4" /><Relationship Type="http://schemas.openxmlformats.org/officeDocument/2006/relationships/notesSlide" Target="/ppt/notesSlides/notesSlide12.xml" Id="R3483622a93a741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2cfc3f2bb6498b" /><Relationship Type="http://schemas.openxmlformats.org/officeDocument/2006/relationships/image" Target="/ppt/media/image7.png" Id="R9224aa3a5e634f55" /><Relationship Type="http://schemas.openxmlformats.org/officeDocument/2006/relationships/notesSlide" Target="/ppt/notesSlides/notesSlide13.xml" Id="R653293bbadda4040" /></Relationships>
</file>

<file path=ppt/slides/slide1.xml><?xml version="1.0" encoding="utf-8"?>
<p:sld xmlns:p="http://schemas.openxmlformats.org/presentationml/2006/main">
  <p:cSld>
    <p:bg>
      <p:bgPr>
        <a:solidFill xmlns:a="http://schemas.openxmlformats.org/drawingml/2006/main">
          <a:srgbClr val="7A1F2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200BCB6-DCB2-44EB-BBEF-C142B42BB01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7A1F2B"/>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3b4d7898e1f54897"/>
          <a:stretch xmlns:a="http://schemas.openxmlformats.org/drawingml/2006/main">
            <a:fillRect l="0" t="0" r="0" b="0"/>
          </a:stretch>
        </p:blipFill>
        <p:spPr>
          <a:xfrm xmlns:a="http://schemas.openxmlformats.org/drawingml/2006/main">
            <a:off x="640080" y="502920"/>
            <a:ext cx="777240" cy="51206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679D9926-B519-4EC2-89CA-762E46B27CDF}"/>
              </a:ext>
            </a:extLst>
          </p:cNvPr>
          <p:cNvSpPr>
            <a:spLocks xmlns:a="http://schemas.openxmlformats.org/drawingml/2006/main" noGrp="1"/>
          </p:cNvSpPr>
          <p:nvPr/>
        </p:nvSpPr>
        <p:spPr>
          <a:xfrm xmlns:a="http://schemas.openxmlformats.org/drawingml/2006/main">
            <a:off x="1600200" y="548640"/>
            <a:ext cx="7315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100">
                <a:solidFill>
                  <a:srgbClr val="FFFFFF"/>
                </a:solidFill>
                <a:latin typeface="Calibri"/>
                <a:ea typeface="Calibri"/>
                <a:cs typeface="Calibri"/>
              </a:rPr>
              <a:t>UNIVERSITY OF DAR ES SALAAM COMPUTING CENTRE</a:t>
            </a:r>
            <a:endParaRPr sz="1300"/>
          </a:p>
        </p:txBody>
      </p:sp>
      <p:sp>
        <p:nvSpPr>
          <p:cNvPr id="5" name="Text 2">
            <a:extLst xmlns:a="http://schemas.openxmlformats.org/drawingml/2006/main">
              <a:ext uri="{FF2B5EF4-FFF2-40B4-BE49-F238E27FC236}">
                <a16:creationId xmlns:a16="http://schemas.microsoft.com/office/drawing/2014/main" id="{E43A4169-D5B8-4453-BC33-723E3D7AF411}"/>
              </a:ext>
            </a:extLst>
          </p:cNvPr>
          <p:cNvSpPr>
            <a:spLocks xmlns:a="http://schemas.openxmlformats.org/drawingml/2006/main" noGrp="1"/>
          </p:cNvSpPr>
          <p:nvPr/>
        </p:nvSpPr>
        <p:spPr>
          <a:xfrm xmlns:a="http://schemas.openxmlformats.org/drawingml/2006/main">
            <a:off x="1600200" y="868680"/>
            <a:ext cx="7315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spc="200">
                <a:solidFill>
                  <a:srgbClr val="E7C7CC"/>
                </a:solidFill>
                <a:latin typeface="Calibri"/>
                <a:ea typeface="Calibri"/>
                <a:cs typeface="Calibri"/>
              </a:rPr>
              <a:t>FINAL YEAR PROJECT ASSESSMENT</a:t>
            </a:r>
            <a:endParaRPr sz="1100"/>
          </a:p>
        </p:txBody>
      </p:sp>
      <p:sp>
        <p:nvSpPr>
          <p:cNvPr id="6" name="Text 3">
            <a:extLst xmlns:a="http://schemas.openxmlformats.org/drawingml/2006/main">
              <a:ext uri="{FF2B5EF4-FFF2-40B4-BE49-F238E27FC236}">
                <a16:creationId xmlns:a16="http://schemas.microsoft.com/office/drawing/2014/main" id="{9EBAB485-CCA2-4732-8A48-D2FC3FC2006E}"/>
              </a:ext>
            </a:extLst>
          </p:cNvPr>
          <p:cNvSpPr>
            <a:spLocks xmlns:a="http://schemas.openxmlformats.org/drawingml/2006/main" noGrp="1"/>
          </p:cNvSpPr>
          <p:nvPr/>
        </p:nvSpPr>
        <p:spPr>
          <a:xfrm xmlns:a="http://schemas.openxmlformats.org/drawingml/2006/main">
            <a:off x="640080" y="1965960"/>
            <a:ext cx="10881360" cy="1737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05000"/>
              </a:lnSpc>
              <a:buNone/>
            </a:pPr>
            <a:r>
              <a:rPr sz="4000" b="1">
                <a:solidFill>
                  <a:srgbClr val="FFFFFF"/>
                </a:solidFill>
                <a:latin typeface="Cambria"/>
                <a:ea typeface="Cambria"/>
                <a:cs typeface="Cambria"/>
              </a:rPr>
              <a:t>AI-Enhanced Blood Supply Prediction</a:t>
            </a:r>
            <a:endParaRPr sz="4000"/>
          </a:p>
          <a:p xmlns:a="http://schemas.openxmlformats.org/drawingml/2006/main">
            <a:pPr marL="0" indent="0">
              <a:lnSpc>
                <a:spcPct val="105000"/>
              </a:lnSpc>
              <a:buNone/>
            </a:pPr>
            <a:r>
              <a:rPr sz="4000" b="1">
                <a:solidFill>
                  <a:srgbClr val="FFFFFF"/>
                </a:solidFill>
                <a:latin typeface="Cambria"/>
                <a:ea typeface="Cambria"/>
                <a:cs typeface="Cambria"/>
              </a:rPr>
              <a:t>and Donor Notification System</a:t>
            </a:r>
            <a:endParaRPr sz="4000"/>
          </a:p>
        </p:txBody>
      </p:sp>
      <p:sp>
        <p:nvSpPr>
          <p:cNvPr id="7" name="Shape 4">
            <a:extLst xmlns:a="http://schemas.openxmlformats.org/drawingml/2006/main">
              <a:ext uri="{FF2B5EF4-FFF2-40B4-BE49-F238E27FC236}">
                <a16:creationId xmlns:a16="http://schemas.microsoft.com/office/drawing/2014/main" id="{98C86C70-7303-44D0-B810-B8854F4BDF96}"/>
              </a:ext>
            </a:extLst>
          </p:cNvPr>
          <p:cNvSpPr>
            <a:spLocks xmlns:a="http://schemas.openxmlformats.org/drawingml/2006/main" noGrp="1"/>
          </p:cNvSpPr>
          <p:nvPr/>
        </p:nvSpPr>
        <p:spPr>
          <a:xfrm xmlns:a="http://schemas.openxmlformats.org/drawingml/2006/main">
            <a:off x="658368" y="3611880"/>
            <a:ext cx="1463040" cy="41148"/>
          </a:xfrm>
          <a:prstGeom xmlns:a="http://schemas.openxmlformats.org/drawingml/2006/main" prst="rect">
            <a:avLst/>
          </a:prstGeom>
          <a:solidFill xmlns:a="http://schemas.openxmlformats.org/drawingml/2006/main">
            <a:srgbClr val="B5860B"/>
          </a:solidFill>
        </p:spPr>
      </p:sp>
      <p:sp>
        <p:nvSpPr>
          <p:cNvPr id="8" name="Text 5">
            <a:extLst xmlns:a="http://schemas.openxmlformats.org/drawingml/2006/main">
              <a:ext uri="{FF2B5EF4-FFF2-40B4-BE49-F238E27FC236}">
                <a16:creationId xmlns:a16="http://schemas.microsoft.com/office/drawing/2014/main" id="{FDACB5F9-B0A0-4F17-BD27-DB4A6AC17344}"/>
              </a:ext>
            </a:extLst>
          </p:cNvPr>
          <p:cNvSpPr>
            <a:spLocks xmlns:a="http://schemas.openxmlformats.org/drawingml/2006/main" noGrp="1"/>
          </p:cNvSpPr>
          <p:nvPr/>
        </p:nvSpPr>
        <p:spPr>
          <a:xfrm xmlns:a="http://schemas.openxmlformats.org/drawingml/2006/main">
            <a:off x="640080" y="3794760"/>
            <a:ext cx="105156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i="1">
                <a:solidFill>
                  <a:srgbClr val="E7C7CC"/>
                </a:solidFill>
                <a:latin typeface="Calibri"/>
                <a:ea typeface="Calibri"/>
                <a:cs typeface="Calibri"/>
              </a:rPr>
              <a:t>Case Study: National Blood Transfusion Service (NBTS), Tanzania</a:t>
            </a:r>
            <a:endParaRPr sz="1600"/>
          </a:p>
        </p:txBody>
      </p:sp>
      <p:sp>
        <p:nvSpPr>
          <p:cNvPr id="9" name="Text 6">
            <a:extLst xmlns:a="http://schemas.openxmlformats.org/drawingml/2006/main">
              <a:ext uri="{FF2B5EF4-FFF2-40B4-BE49-F238E27FC236}">
                <a16:creationId xmlns:a16="http://schemas.microsoft.com/office/drawing/2014/main" id="{2E28E95A-A63A-4234-B9F4-37343B48A258}"/>
              </a:ext>
            </a:extLst>
          </p:cNvPr>
          <p:cNvSpPr>
            <a:spLocks xmlns:a="http://schemas.openxmlformats.org/drawingml/2006/main" noGrp="1"/>
          </p:cNvSpPr>
          <p:nvPr/>
        </p:nvSpPr>
        <p:spPr>
          <a:xfrm xmlns:a="http://schemas.openxmlformats.org/drawingml/2006/main">
            <a:off x="64008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Jackline Wilson
</a:t>
            </a:r>
            <a:r>
              <a:rPr sz="1100">
                <a:solidFill>
                  <a:srgbClr val="CDA3A9"/>
                </a:solidFill>
                <a:latin typeface="Calibri"/>
                <a:ea typeface="Calibri"/>
                <a:cs typeface="Calibri"/>
              </a:rPr>
              <a:t>01-0924-02-86749</a:t>
            </a:r>
            <a:endParaRPr sz="1300"/>
          </a:p>
        </p:txBody>
      </p:sp>
      <p:sp>
        <p:nvSpPr>
          <p:cNvPr id="10" name="Text 7">
            <a:extLst xmlns:a="http://schemas.openxmlformats.org/drawingml/2006/main">
              <a:ext uri="{FF2B5EF4-FFF2-40B4-BE49-F238E27FC236}">
                <a16:creationId xmlns:a16="http://schemas.microsoft.com/office/drawing/2014/main" id="{922276EE-4ADA-4C5A-BFE7-084E525E2ADC}"/>
              </a:ext>
            </a:extLst>
          </p:cNvPr>
          <p:cNvSpPr>
            <a:spLocks xmlns:a="http://schemas.openxmlformats.org/drawingml/2006/main" noGrp="1"/>
          </p:cNvSpPr>
          <p:nvPr/>
        </p:nvSpPr>
        <p:spPr>
          <a:xfrm xmlns:a="http://schemas.openxmlformats.org/drawingml/2006/main">
            <a:off x="64008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Ibrahim John
</a:t>
            </a:r>
            <a:r>
              <a:rPr sz="1100">
                <a:solidFill>
                  <a:srgbClr val="CDA3A9"/>
                </a:solidFill>
                <a:latin typeface="Calibri"/>
                <a:ea typeface="Calibri"/>
                <a:cs typeface="Calibri"/>
              </a:rPr>
              <a:t>01-0922-02-72789</a:t>
            </a:r>
            <a:endParaRPr sz="1300"/>
          </a:p>
        </p:txBody>
      </p:sp>
      <p:sp>
        <p:nvSpPr>
          <p:cNvPr id="11" name="Text 8">
            <a:extLst xmlns:a="http://schemas.openxmlformats.org/drawingml/2006/main">
              <a:ext uri="{FF2B5EF4-FFF2-40B4-BE49-F238E27FC236}">
                <a16:creationId xmlns:a16="http://schemas.microsoft.com/office/drawing/2014/main" id="{FF7F4CC0-A34D-446C-8BD9-E83CA932B71A}"/>
              </a:ext>
            </a:extLst>
          </p:cNvPr>
          <p:cNvSpPr>
            <a:spLocks xmlns:a="http://schemas.openxmlformats.org/drawingml/2006/main" noGrp="1"/>
          </p:cNvSpPr>
          <p:nvPr/>
        </p:nvSpPr>
        <p:spPr>
          <a:xfrm xmlns:a="http://schemas.openxmlformats.org/drawingml/2006/main">
            <a:off x="434340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Sadiki L. Selemani
</a:t>
            </a:r>
            <a:r>
              <a:rPr sz="1100">
                <a:solidFill>
                  <a:srgbClr val="CDA3A9"/>
                </a:solidFill>
                <a:latin typeface="Calibri"/>
                <a:ea typeface="Calibri"/>
                <a:cs typeface="Calibri"/>
              </a:rPr>
              <a:t>01-0924-02-87253</a:t>
            </a:r>
            <a:endParaRPr sz="1300"/>
          </a:p>
        </p:txBody>
      </p:sp>
      <p:sp>
        <p:nvSpPr>
          <p:cNvPr id="12" name="Text 9">
            <a:extLst xmlns:a="http://schemas.openxmlformats.org/drawingml/2006/main">
              <a:ext uri="{FF2B5EF4-FFF2-40B4-BE49-F238E27FC236}">
                <a16:creationId xmlns:a16="http://schemas.microsoft.com/office/drawing/2014/main" id="{596F1E83-1761-4606-8C9F-EB23C5C3EE9F}"/>
              </a:ext>
            </a:extLst>
          </p:cNvPr>
          <p:cNvSpPr>
            <a:spLocks xmlns:a="http://schemas.openxmlformats.org/drawingml/2006/main" noGrp="1"/>
          </p:cNvSpPr>
          <p:nvPr/>
        </p:nvSpPr>
        <p:spPr>
          <a:xfrm xmlns:a="http://schemas.openxmlformats.org/drawingml/2006/main">
            <a:off x="434340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Joseph Masubugu
</a:t>
            </a:r>
            <a:r>
              <a:rPr sz="1100">
                <a:solidFill>
                  <a:srgbClr val="CDA3A9"/>
                </a:solidFill>
                <a:latin typeface="Calibri"/>
                <a:ea typeface="Calibri"/>
                <a:cs typeface="Calibri"/>
              </a:rPr>
              <a:t>01-0924-02-87560</a:t>
            </a:r>
            <a:endParaRPr sz="1300"/>
          </a:p>
        </p:txBody>
      </p:sp>
      <p:sp>
        <p:nvSpPr>
          <p:cNvPr id="13" name="Text 10">
            <a:extLst xmlns:a="http://schemas.openxmlformats.org/drawingml/2006/main">
              <a:ext uri="{FF2B5EF4-FFF2-40B4-BE49-F238E27FC236}">
                <a16:creationId xmlns:a16="http://schemas.microsoft.com/office/drawing/2014/main" id="{59AB3511-0194-4C01-9444-D6187E6B455A}"/>
              </a:ext>
            </a:extLst>
          </p:cNvPr>
          <p:cNvSpPr>
            <a:spLocks xmlns:a="http://schemas.openxmlformats.org/drawingml/2006/main" noGrp="1"/>
          </p:cNvSpPr>
          <p:nvPr/>
        </p:nvSpPr>
        <p:spPr>
          <a:xfrm xmlns:a="http://schemas.openxmlformats.org/drawingml/2006/main">
            <a:off x="8046720" y="4617720"/>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Bushiri A. Kwizombe
</a:t>
            </a:r>
            <a:r>
              <a:rPr sz="1100">
                <a:solidFill>
                  <a:srgbClr val="CDA3A9"/>
                </a:solidFill>
                <a:latin typeface="Calibri"/>
                <a:ea typeface="Calibri"/>
                <a:cs typeface="Calibri"/>
              </a:rPr>
              <a:t>01-0924-02-88172</a:t>
            </a:r>
            <a:endParaRPr sz="1300"/>
          </a:p>
        </p:txBody>
      </p:sp>
      <p:sp>
        <p:nvSpPr>
          <p:cNvPr id="14" name="Text 11">
            <a:extLst xmlns:a="http://schemas.openxmlformats.org/drawingml/2006/main">
              <a:ext uri="{FF2B5EF4-FFF2-40B4-BE49-F238E27FC236}">
                <a16:creationId xmlns:a16="http://schemas.microsoft.com/office/drawing/2014/main" id="{73F5B247-68DC-462D-B293-969AAE9B5696}"/>
              </a:ext>
            </a:extLst>
          </p:cNvPr>
          <p:cNvSpPr>
            <a:spLocks xmlns:a="http://schemas.openxmlformats.org/drawingml/2006/main" noGrp="1"/>
          </p:cNvSpPr>
          <p:nvPr/>
        </p:nvSpPr>
        <p:spPr>
          <a:xfrm xmlns:a="http://schemas.openxmlformats.org/drawingml/2006/main">
            <a:off x="8046720" y="5184648"/>
            <a:ext cx="34747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Zahoro M. Awadhi
</a:t>
            </a:r>
            <a:r>
              <a:rPr sz="1100">
                <a:solidFill>
                  <a:srgbClr val="CDA3A9"/>
                </a:solidFill>
                <a:latin typeface="Calibri"/>
                <a:ea typeface="Calibri"/>
                <a:cs typeface="Calibri"/>
              </a:rPr>
              <a:t>01-0924-02-87427</a:t>
            </a:r>
            <a:endParaRPr sz="1300"/>
          </a:p>
        </p:txBody>
      </p:sp>
      <p:sp>
        <p:nvSpPr>
          <p:cNvPr id="15" name="Text 12">
            <a:extLst xmlns:a="http://schemas.openxmlformats.org/drawingml/2006/main">
              <a:ext uri="{FF2B5EF4-FFF2-40B4-BE49-F238E27FC236}">
                <a16:creationId xmlns:a16="http://schemas.microsoft.com/office/drawing/2014/main" id="{79A6D558-A775-407F-8912-52A8351EA144}"/>
              </a:ext>
            </a:extLst>
          </p:cNvPr>
          <p:cNvSpPr>
            <a:spLocks xmlns:a="http://schemas.openxmlformats.org/drawingml/2006/main" noGrp="1"/>
          </p:cNvSpPr>
          <p:nvPr/>
        </p:nvSpPr>
        <p:spPr>
          <a:xfrm xmlns:a="http://schemas.openxmlformats.org/drawingml/2006/main">
            <a:off x="640080" y="6080760"/>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FFFFFF"/>
                </a:solidFill>
                <a:latin typeface="Calibri"/>
                <a:ea typeface="Calibri"/>
                <a:cs typeface="Calibri"/>
              </a:rPr>
              <a:t>Supervisor: Denis Kimaro</a:t>
            </a:r>
            <a:endParaRPr sz="1200"/>
          </a:p>
        </p:txBody>
      </p:sp>
      <p:sp>
        <p:nvSpPr>
          <p:cNvPr id="16" name="Text 13">
            <a:extLst xmlns:a="http://schemas.openxmlformats.org/drawingml/2006/main">
              <a:ext uri="{FF2B5EF4-FFF2-40B4-BE49-F238E27FC236}">
                <a16:creationId xmlns:a16="http://schemas.microsoft.com/office/drawing/2014/main" id="{5D483841-4A94-4071-9174-1160FD5243E9}"/>
              </a:ext>
            </a:extLst>
          </p:cNvPr>
          <p:cNvSpPr>
            <a:spLocks xmlns:a="http://schemas.openxmlformats.org/drawingml/2006/main" noGrp="1"/>
          </p:cNvSpPr>
          <p:nvPr/>
        </p:nvSpPr>
        <p:spPr>
          <a:xfrm xmlns:a="http://schemas.openxmlformats.org/drawingml/2006/main">
            <a:off x="9601200" y="6080760"/>
            <a:ext cx="19659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200">
                <a:solidFill>
                  <a:srgbClr val="FFFFFF"/>
                </a:solidFill>
                <a:latin typeface="Calibri"/>
                <a:ea typeface="Calibri"/>
                <a:cs typeface="Calibri"/>
              </a:rPr>
              <a:t>September 2026</a:t>
            </a:r>
            <a:endParaRPr sz="1200"/>
          </a:p>
        </p:txBody>
      </p:sp>
    </p:spTree>
    <p:extLst>
      <p:ext uri="{BB962C8B-B14F-4D97-AF65-F5344CB8AC3E}">
        <p14:creationId xmlns:p14="http://schemas.microsoft.com/office/powerpoint/2010/main" val="6135323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8CD8EE-2DC0-405B-9CD8-A92CA864D524}"/>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INTRODUCTION</a:t>
            </a:r>
            <a:endParaRPr sz="1200"/>
          </a:p>
        </p:txBody>
      </p:sp>
      <p:sp>
        <p:nvSpPr>
          <p:cNvPr id="3" name="Text 1">
            <a:extLst xmlns:a="http://schemas.openxmlformats.org/drawingml/2006/main">
              <a:ext uri="{FF2B5EF4-FFF2-40B4-BE49-F238E27FC236}">
                <a16:creationId xmlns:a16="http://schemas.microsoft.com/office/drawing/2014/main" id="{D68CC3C5-1321-4BEE-B593-980F9579819C}"/>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Blood is life-saving — and hard to plan for</a:t>
            </a:r>
            <a:endParaRPr sz="3000"/>
          </a:p>
        </p:txBody>
      </p:sp>
      <p:sp>
        <p:nvSpPr>
          <p:cNvPr id="4" name="Shape 2">
            <a:extLst xmlns:a="http://schemas.openxmlformats.org/drawingml/2006/main">
              <a:ext uri="{FF2B5EF4-FFF2-40B4-BE49-F238E27FC236}">
                <a16:creationId xmlns:a16="http://schemas.microsoft.com/office/drawing/2014/main" id="{E6BEF8C9-9182-47FE-88E8-83B663751E22}"/>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7A1F2B"/>
          </a:solidFill>
        </p:spPr>
      </p:sp>
      <p:sp>
        <p:nvSpPr>
          <p:cNvPr id="5" name="Text 3">
            <a:extLst xmlns:a="http://schemas.openxmlformats.org/drawingml/2006/main">
              <a:ext uri="{FF2B5EF4-FFF2-40B4-BE49-F238E27FC236}">
                <a16:creationId xmlns:a16="http://schemas.microsoft.com/office/drawing/2014/main" id="{8D716981-04F8-42CF-9844-C831172E353A}"/>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6" name="Text 4">
            <a:extLst xmlns:a="http://schemas.openxmlformats.org/drawingml/2006/main">
              <a:ext uri="{FF2B5EF4-FFF2-40B4-BE49-F238E27FC236}">
                <a16:creationId xmlns:a16="http://schemas.microsoft.com/office/drawing/2014/main" id="{D1FC37D0-85A9-4F05-B6E6-C194956FC232}"/>
              </a:ext>
            </a:extLst>
          </p:cNvPr>
          <p:cNvSpPr>
            <a:spLocks xmlns:a="http://schemas.openxmlformats.org/drawingml/2006/main" noGrp="1"/>
          </p:cNvSpPr>
          <p:nvPr/>
        </p:nvSpPr>
        <p:spPr>
          <a:xfrm xmlns:a="http://schemas.openxmlformats.org/drawingml/2006/main">
            <a:off x="1371600" y="16459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Demand is unpredictable</a:t>
            </a:r>
            <a:endParaRPr sz="1600"/>
          </a:p>
        </p:txBody>
      </p:sp>
      <p:sp>
        <p:nvSpPr>
          <p:cNvPr id="7" name="Text 5">
            <a:extLst xmlns:a="http://schemas.openxmlformats.org/drawingml/2006/main">
              <a:ext uri="{FF2B5EF4-FFF2-40B4-BE49-F238E27FC236}">
                <a16:creationId xmlns:a16="http://schemas.microsoft.com/office/drawing/2014/main" id="{88FF056B-2E43-42B7-B663-E1439FB5472E}"/>
              </a:ext>
            </a:extLst>
          </p:cNvPr>
          <p:cNvSpPr>
            <a:spLocks xmlns:a="http://schemas.openxmlformats.org/drawingml/2006/main" noGrp="1"/>
          </p:cNvSpPr>
          <p:nvPr/>
        </p:nvSpPr>
        <p:spPr>
          <a:xfrm xmlns:a="http://schemas.openxmlformats.org/drawingml/2006/main">
            <a:off x="1371600" y="20116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Emergencies, accidents, surgeries and childbirth complications cause blood demand to spike without warning.</a:t>
            </a:r>
            <a:endParaRPr sz="1300"/>
          </a:p>
        </p:txBody>
      </p:sp>
      <p:sp>
        <p:nvSpPr>
          <p:cNvPr id="8" name="Shape 6">
            <a:extLst xmlns:a="http://schemas.openxmlformats.org/drawingml/2006/main">
              <a:ext uri="{FF2B5EF4-FFF2-40B4-BE49-F238E27FC236}">
                <a16:creationId xmlns:a16="http://schemas.microsoft.com/office/drawing/2014/main" id="{227C8265-C26A-46B9-916B-5AFC5B046954}"/>
              </a:ext>
            </a:extLst>
          </p:cNvPr>
          <p:cNvSpPr>
            <a:spLocks xmlns:a="http://schemas.openxmlformats.org/drawingml/2006/main" noGrp="1"/>
          </p:cNvSpPr>
          <p:nvPr/>
        </p:nvSpPr>
        <p:spPr>
          <a:xfrm xmlns:a="http://schemas.openxmlformats.org/drawingml/2006/main">
            <a:off x="640080" y="3063240"/>
            <a:ext cx="502920" cy="502920"/>
          </a:xfrm>
          <a:prstGeom xmlns:a="http://schemas.openxmlformats.org/drawingml/2006/main" prst="ellipse">
            <a:avLst/>
          </a:prstGeom>
          <a:solidFill xmlns:a="http://schemas.openxmlformats.org/drawingml/2006/main">
            <a:srgbClr val="B5860B"/>
          </a:solidFill>
        </p:spPr>
      </p:sp>
      <p:sp>
        <p:nvSpPr>
          <p:cNvPr id="9" name="Text 7">
            <a:extLst xmlns:a="http://schemas.openxmlformats.org/drawingml/2006/main">
              <a:ext uri="{FF2B5EF4-FFF2-40B4-BE49-F238E27FC236}">
                <a16:creationId xmlns:a16="http://schemas.microsoft.com/office/drawing/2014/main" id="{83D20526-572D-472B-846D-B86A5C7F76EA}"/>
              </a:ext>
            </a:extLst>
          </p:cNvPr>
          <p:cNvSpPr>
            <a:spLocks xmlns:a="http://schemas.openxmlformats.org/drawingml/2006/main" noGrp="1"/>
          </p:cNvSpPr>
          <p:nvPr/>
        </p:nvSpPr>
        <p:spPr>
          <a:xfrm xmlns:a="http://schemas.openxmlformats.org/drawingml/2006/main">
            <a:off x="640080" y="30632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0" name="Text 8">
            <a:extLst xmlns:a="http://schemas.openxmlformats.org/drawingml/2006/main">
              <a:ext uri="{FF2B5EF4-FFF2-40B4-BE49-F238E27FC236}">
                <a16:creationId xmlns:a16="http://schemas.microsoft.com/office/drawing/2014/main" id="{BB079112-DC11-40EC-942A-F0F78B72600D}"/>
              </a:ext>
            </a:extLst>
          </p:cNvPr>
          <p:cNvSpPr>
            <a:spLocks xmlns:a="http://schemas.openxmlformats.org/drawingml/2006/main" noGrp="1"/>
          </p:cNvSpPr>
          <p:nvPr/>
        </p:nvSpPr>
        <p:spPr>
          <a:xfrm xmlns:a="http://schemas.openxmlformats.org/drawingml/2006/main">
            <a:off x="1371600" y="30175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Blood is perishable</a:t>
            </a:r>
            <a:endParaRPr sz="1600"/>
          </a:p>
        </p:txBody>
      </p:sp>
      <p:sp>
        <p:nvSpPr>
          <p:cNvPr id="11" name="Text 9">
            <a:extLst xmlns:a="http://schemas.openxmlformats.org/drawingml/2006/main">
              <a:ext uri="{FF2B5EF4-FFF2-40B4-BE49-F238E27FC236}">
                <a16:creationId xmlns:a16="http://schemas.microsoft.com/office/drawing/2014/main" id="{329E2A70-B5BD-4932-AA16-90B3FA81C53B}"/>
              </a:ext>
            </a:extLst>
          </p:cNvPr>
          <p:cNvSpPr>
            <a:spLocks xmlns:a="http://schemas.openxmlformats.org/drawingml/2006/main" noGrp="1"/>
          </p:cNvSpPr>
          <p:nvPr/>
        </p:nvSpPr>
        <p:spPr>
          <a:xfrm xmlns:a="http://schemas.openxmlformats.org/drawingml/2006/main">
            <a:off x="1371600" y="33832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Poor coordination between collection and use can let one blood group expire while another runs short.</a:t>
            </a:r>
            <a:endParaRPr sz="1300"/>
          </a:p>
        </p:txBody>
      </p:sp>
      <p:sp>
        <p:nvSpPr>
          <p:cNvPr id="12" name="Shape 10">
            <a:extLst xmlns:a="http://schemas.openxmlformats.org/drawingml/2006/main">
              <a:ext uri="{FF2B5EF4-FFF2-40B4-BE49-F238E27FC236}">
                <a16:creationId xmlns:a16="http://schemas.microsoft.com/office/drawing/2014/main" id="{4DF6D0CD-A934-4FEB-81B0-A725B458957F}"/>
              </a:ext>
            </a:extLst>
          </p:cNvPr>
          <p:cNvSpPr>
            <a:spLocks xmlns:a="http://schemas.openxmlformats.org/drawingml/2006/main" noGrp="1"/>
          </p:cNvSpPr>
          <p:nvPr/>
        </p:nvSpPr>
        <p:spPr>
          <a:xfrm xmlns:a="http://schemas.openxmlformats.org/drawingml/2006/main">
            <a:off x="640080" y="4434840"/>
            <a:ext cx="502920" cy="502920"/>
          </a:xfrm>
          <a:prstGeom xmlns:a="http://schemas.openxmlformats.org/drawingml/2006/main" prst="ellipse">
            <a:avLst/>
          </a:prstGeom>
          <a:solidFill xmlns:a="http://schemas.openxmlformats.org/drawingml/2006/main">
            <a:srgbClr val="7A1F2B"/>
          </a:solidFill>
        </p:spPr>
      </p:sp>
      <p:sp>
        <p:nvSpPr>
          <p:cNvPr id="13" name="Text 11">
            <a:extLst xmlns:a="http://schemas.openxmlformats.org/drawingml/2006/main">
              <a:ext uri="{FF2B5EF4-FFF2-40B4-BE49-F238E27FC236}">
                <a16:creationId xmlns:a16="http://schemas.microsoft.com/office/drawing/2014/main" id="{8BA73972-2FBF-4743-A365-AE052F8370C4}"/>
              </a:ext>
            </a:extLst>
          </p:cNvPr>
          <p:cNvSpPr>
            <a:spLocks xmlns:a="http://schemas.openxmlformats.org/drawingml/2006/main" noGrp="1"/>
          </p:cNvSpPr>
          <p:nvPr/>
        </p:nvSpPr>
        <p:spPr>
          <a:xfrm xmlns:a="http://schemas.openxmlformats.org/drawingml/2006/main">
            <a:off x="640080" y="44348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4" name="Text 12">
            <a:extLst xmlns:a="http://schemas.openxmlformats.org/drawingml/2006/main">
              <a:ext uri="{FF2B5EF4-FFF2-40B4-BE49-F238E27FC236}">
                <a16:creationId xmlns:a16="http://schemas.microsoft.com/office/drawing/2014/main" id="{4EC40448-2C36-43CD-B788-5012027B8F86}"/>
              </a:ext>
            </a:extLst>
          </p:cNvPr>
          <p:cNvSpPr>
            <a:spLocks xmlns:a="http://schemas.openxmlformats.org/drawingml/2006/main" noGrp="1"/>
          </p:cNvSpPr>
          <p:nvPr/>
        </p:nvSpPr>
        <p:spPr>
          <a:xfrm xmlns:a="http://schemas.openxmlformats.org/drawingml/2006/main">
            <a:off x="1371600" y="4389120"/>
            <a:ext cx="57607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1A1A"/>
                </a:solidFill>
                <a:latin typeface="Calibri"/>
                <a:ea typeface="Calibri"/>
                <a:cs typeface="Calibri"/>
              </a:rPr>
              <a:t>NBTS manages it nationally</a:t>
            </a:r>
            <a:endParaRPr sz="1600"/>
          </a:p>
        </p:txBody>
      </p:sp>
      <p:sp>
        <p:nvSpPr>
          <p:cNvPr id="15" name="Text 13">
            <a:extLst xmlns:a="http://schemas.openxmlformats.org/drawingml/2006/main">
              <a:ext uri="{FF2B5EF4-FFF2-40B4-BE49-F238E27FC236}">
                <a16:creationId xmlns:a16="http://schemas.microsoft.com/office/drawing/2014/main" id="{3FCE519E-1AAE-4026-9717-38C1451A9AA5}"/>
              </a:ext>
            </a:extLst>
          </p:cNvPr>
          <p:cNvSpPr>
            <a:spLocks xmlns:a="http://schemas.openxmlformats.org/drawingml/2006/main" noGrp="1"/>
          </p:cNvSpPr>
          <p:nvPr/>
        </p:nvSpPr>
        <p:spPr>
          <a:xfrm xmlns:a="http://schemas.openxmlformats.org/drawingml/2006/main">
            <a:off x="1371600" y="4754880"/>
            <a:ext cx="576072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5B5B5B"/>
                </a:solidFill>
                <a:latin typeface="Calibri"/>
                <a:ea typeface="Calibri"/>
                <a:cs typeface="Calibri"/>
              </a:rPr>
              <a:t>The National Blood Transfusion Service coordinates donor recruitment, collection, testing and distribution across Tanzania.</a:t>
            </a:r>
            <a:endParaRPr sz="1300"/>
          </a:p>
        </p:txBody>
      </p:sp>
      <p:sp>
        <p:nvSpPr>
          <p:cNvPr id="16" name="Shape 14">
            <a:extLst xmlns:a="http://schemas.openxmlformats.org/drawingml/2006/main">
              <a:ext uri="{FF2B5EF4-FFF2-40B4-BE49-F238E27FC236}">
                <a16:creationId xmlns:a16="http://schemas.microsoft.com/office/drawing/2014/main" id="{21D6B231-77AA-4596-B0F8-5A0D22F97DDD}"/>
              </a:ext>
            </a:extLst>
          </p:cNvPr>
          <p:cNvSpPr>
            <a:spLocks xmlns:a="http://schemas.openxmlformats.org/drawingml/2006/main" noGrp="1"/>
          </p:cNvSpPr>
          <p:nvPr/>
        </p:nvSpPr>
        <p:spPr>
          <a:xfrm xmlns:a="http://schemas.openxmlformats.org/drawingml/2006/main">
            <a:off x="7772400" y="1691640"/>
            <a:ext cx="3794760" cy="4114800"/>
          </a:xfrm>
          <a:prstGeom xmlns:a="http://schemas.openxmlformats.org/drawingml/2006/main" prst="roundRect">
            <a:avLst>
              <a:gd name="adj" fmla="val 2892"/>
            </a:avLst>
          </a:prstGeom>
          <a:solidFill xmlns:a="http://schemas.openxmlformats.org/drawingml/2006/main">
            <a:srgbClr val="F7EDEE"/>
          </a:solidFill>
        </p:spPr>
      </p:sp>
      <p:sp>
        <p:nvSpPr>
          <p:cNvPr id="17" name="Text 15">
            <a:extLst xmlns:a="http://schemas.openxmlformats.org/drawingml/2006/main">
              <a:ext uri="{FF2B5EF4-FFF2-40B4-BE49-F238E27FC236}">
                <a16:creationId xmlns:a16="http://schemas.microsoft.com/office/drawing/2014/main" id="{0CB31984-243E-4C2F-96DC-D300B2CBC2A8}"/>
              </a:ext>
            </a:extLst>
          </p:cNvPr>
          <p:cNvSpPr>
            <a:spLocks xmlns:a="http://schemas.openxmlformats.org/drawingml/2006/main" noGrp="1"/>
          </p:cNvSpPr>
          <p:nvPr/>
        </p:nvSpPr>
        <p:spPr>
          <a:xfrm xmlns:a="http://schemas.openxmlformats.org/drawingml/2006/main">
            <a:off x="8092440" y="1965960"/>
            <a:ext cx="3200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7A1F2B"/>
                </a:solidFill>
                <a:latin typeface="Calibri"/>
                <a:ea typeface="Calibri"/>
                <a:cs typeface="Calibri"/>
              </a:rPr>
              <a:t>This project builds</a:t>
            </a:r>
            <a:endParaRPr sz="1300"/>
          </a:p>
        </p:txBody>
      </p:sp>
      <p:sp>
        <p:nvSpPr>
          <p:cNvPr id="18" name="Text 16">
            <a:extLst xmlns:a="http://schemas.openxmlformats.org/drawingml/2006/main">
              <a:ext uri="{FF2B5EF4-FFF2-40B4-BE49-F238E27FC236}">
                <a16:creationId xmlns:a16="http://schemas.microsoft.com/office/drawing/2014/main" id="{F0194326-EC11-4835-8062-6CAC80A0E8CD}"/>
              </a:ext>
            </a:extLst>
          </p:cNvPr>
          <p:cNvSpPr>
            <a:spLocks xmlns:a="http://schemas.openxmlformats.org/drawingml/2006/main" noGrp="1"/>
          </p:cNvSpPr>
          <p:nvPr/>
        </p:nvSpPr>
        <p:spPr>
          <a:xfrm xmlns:a="http://schemas.openxmlformats.org/drawingml/2006/main">
            <a:off x="8092440" y="2331720"/>
            <a:ext cx="3200400" cy="12801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400">
                <a:solidFill>
                  <a:srgbClr val="1A1A1A"/>
                </a:solidFill>
                <a:latin typeface="Calibri"/>
                <a:ea typeface="Calibri"/>
                <a:cs typeface="Calibri"/>
              </a:rPr>
              <a:t>a centralised, AI-assisted system to forecast demand, track inventory and notify eligible donors before a shortage becomes critical.</a:t>
            </a:r>
            <a:endParaRPr sz="1400"/>
          </a:p>
        </p:txBody>
      </p:sp>
      <p:sp>
        <p:nvSpPr>
          <p:cNvPr id="19" name="Shape 17">
            <a:extLst xmlns:a="http://schemas.openxmlformats.org/drawingml/2006/main">
              <a:ext uri="{FF2B5EF4-FFF2-40B4-BE49-F238E27FC236}">
                <a16:creationId xmlns:a16="http://schemas.microsoft.com/office/drawing/2014/main" id="{BC05E4CC-DA3A-42F6-AE62-ED7508986E6D}"/>
              </a:ext>
            </a:extLst>
          </p:cNvPr>
          <p:cNvSpPr>
            <a:spLocks xmlns:a="http://schemas.openxmlformats.org/drawingml/2006/main" noGrp="1"/>
          </p:cNvSpPr>
          <p:nvPr/>
        </p:nvSpPr>
        <p:spPr>
          <a:xfrm xmlns:a="http://schemas.openxmlformats.org/drawingml/2006/main">
            <a:off x="8092440" y="3703320"/>
            <a:ext cx="3200400" cy="0"/>
          </a:xfrm>
          <a:prstGeom xmlns:a="http://schemas.openxmlformats.org/drawingml/2006/main" prst="line">
            <a:avLst/>
          </a:prstGeom>
          <a:noFill xmlns:a="http://schemas.openxmlformats.org/drawingml/2006/main"/>
          <a:ln xmlns:a="http://schemas.openxmlformats.org/drawingml/2006/main" w="12700">
            <a:solidFill>
              <a:srgbClr val="D9C3C6"/>
            </a:solidFill>
            <a:prstDash val="solid"/>
          </a:ln>
        </p:spPr>
      </p:sp>
      <p:sp>
        <p:nvSpPr>
          <p:cNvPr id="20" name="Text 18">
            <a:extLst xmlns:a="http://schemas.openxmlformats.org/drawingml/2006/main">
              <a:ext uri="{FF2B5EF4-FFF2-40B4-BE49-F238E27FC236}">
                <a16:creationId xmlns:a16="http://schemas.microsoft.com/office/drawing/2014/main" id="{EB57CD1A-FBF2-4398-8AEE-A2B84C07766E}"/>
              </a:ext>
            </a:extLst>
          </p:cNvPr>
          <p:cNvSpPr>
            <a:spLocks xmlns:a="http://schemas.openxmlformats.org/drawingml/2006/main" noGrp="1"/>
          </p:cNvSpPr>
          <p:nvPr/>
        </p:nvSpPr>
        <p:spPr>
          <a:xfrm xmlns:a="http://schemas.openxmlformats.org/drawingml/2006/main">
            <a:off x="8092440" y="3886200"/>
            <a:ext cx="14630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2E4374"/>
                </a:solidFill>
                <a:latin typeface="Cambria"/>
                <a:ea typeface="Cambria"/>
                <a:cs typeface="Cambria"/>
              </a:rPr>
              <a:t>3</a:t>
            </a:r>
            <a:endParaRPr sz="4000"/>
          </a:p>
        </p:txBody>
      </p:sp>
      <p:sp>
        <p:nvSpPr>
          <p:cNvPr id="21" name="Text 19">
            <a:extLst xmlns:a="http://schemas.openxmlformats.org/drawingml/2006/main">
              <a:ext uri="{FF2B5EF4-FFF2-40B4-BE49-F238E27FC236}">
                <a16:creationId xmlns:a16="http://schemas.microsoft.com/office/drawing/2014/main" id="{B96534A4-6180-4F2B-BE23-BEA04F536379}"/>
              </a:ext>
            </a:extLst>
          </p:cNvPr>
          <p:cNvSpPr>
            <a:spLocks xmlns:a="http://schemas.openxmlformats.org/drawingml/2006/main" noGrp="1"/>
          </p:cNvSpPr>
          <p:nvPr/>
        </p:nvSpPr>
        <p:spPr>
          <a:xfrm xmlns:a="http://schemas.openxmlformats.org/drawingml/2006/main">
            <a:off x="8092440" y="4526280"/>
            <a:ext cx="3200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5B5B5B"/>
                </a:solidFill>
                <a:latin typeface="Calibri"/>
                <a:ea typeface="Calibri"/>
                <a:cs typeface="Calibri"/>
              </a:rPr>
              <a:t>user roles served</a:t>
            </a:r>
            <a:endParaRPr sz="1200"/>
          </a:p>
        </p:txBody>
      </p:sp>
      <p:sp>
        <p:nvSpPr>
          <p:cNvPr id="22" name="Text 20">
            <a:extLst xmlns:a="http://schemas.openxmlformats.org/drawingml/2006/main">
              <a:ext uri="{FF2B5EF4-FFF2-40B4-BE49-F238E27FC236}">
                <a16:creationId xmlns:a16="http://schemas.microsoft.com/office/drawing/2014/main" id="{DDC2FFF2-9933-49F0-9E86-DA2493414EDC}"/>
              </a:ext>
            </a:extLst>
          </p:cNvPr>
          <p:cNvSpPr>
            <a:spLocks xmlns:a="http://schemas.openxmlformats.org/drawingml/2006/main" noGrp="1"/>
          </p:cNvSpPr>
          <p:nvPr/>
        </p:nvSpPr>
        <p:spPr>
          <a:xfrm xmlns:a="http://schemas.openxmlformats.org/drawingml/2006/main">
            <a:off x="9738360" y="3886200"/>
            <a:ext cx="14630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2E4374"/>
                </a:solidFill>
                <a:latin typeface="Cambria"/>
                <a:ea typeface="Cambria"/>
                <a:cs typeface="Cambria"/>
              </a:rPr>
              <a:t>14</a:t>
            </a:r>
            <a:endParaRPr sz="4000"/>
          </a:p>
        </p:txBody>
      </p:sp>
      <p:sp>
        <p:nvSpPr>
          <p:cNvPr id="23" name="Text 21">
            <a:extLst xmlns:a="http://schemas.openxmlformats.org/drawingml/2006/main">
              <a:ext uri="{FF2B5EF4-FFF2-40B4-BE49-F238E27FC236}">
                <a16:creationId xmlns:a16="http://schemas.microsoft.com/office/drawing/2014/main" id="{2A7968B1-EC14-4003-BEDE-E36901734DEE}"/>
              </a:ext>
            </a:extLst>
          </p:cNvPr>
          <p:cNvSpPr>
            <a:spLocks xmlns:a="http://schemas.openxmlformats.org/drawingml/2006/main" noGrp="1"/>
          </p:cNvSpPr>
          <p:nvPr/>
        </p:nvSpPr>
        <p:spPr>
          <a:xfrm xmlns:a="http://schemas.openxmlformats.org/drawingml/2006/main">
            <a:off x="9738360" y="4526280"/>
            <a:ext cx="17373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a:solidFill>
                  <a:srgbClr val="5B5B5B"/>
                </a:solidFill>
                <a:latin typeface="Calibri"/>
                <a:ea typeface="Calibri"/>
                <a:cs typeface="Calibri"/>
              </a:rPr>
              <a:t>functional requirements</a:t>
            </a:r>
            <a:endParaRPr sz="1200"/>
          </a:p>
        </p:txBody>
      </p:sp>
      <p:sp>
        <p:nvSpPr>
          <p:cNvPr id="24" name="Text 22">
            <a:extLst xmlns:a="http://schemas.openxmlformats.org/drawingml/2006/main">
              <a:ext uri="{FF2B5EF4-FFF2-40B4-BE49-F238E27FC236}">
                <a16:creationId xmlns:a16="http://schemas.microsoft.com/office/drawing/2014/main" id="{FBCAB2A1-E873-42E9-BC8E-7BBE7F91287F}"/>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2</a:t>
            </a:r>
            <a:endParaRPr sz="1000"/>
          </a:p>
        </p:txBody>
      </p:sp>
    </p:spTree>
    <p:extLst>
      <p:ext uri="{BB962C8B-B14F-4D97-AF65-F5344CB8AC3E}">
        <p14:creationId xmlns:p14="http://schemas.microsoft.com/office/powerpoint/2010/main" val="20225971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D71391-233F-4170-9C55-B7268A0C4541}"/>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THE PROBLEM</a:t>
            </a:r>
            <a:endParaRPr sz="1200"/>
          </a:p>
        </p:txBody>
      </p:sp>
      <p:sp>
        <p:nvSpPr>
          <p:cNvPr id="3" name="Text 1">
            <a:extLst xmlns:a="http://schemas.openxmlformats.org/drawingml/2006/main">
              <a:ext uri="{FF2B5EF4-FFF2-40B4-BE49-F238E27FC236}">
                <a16:creationId xmlns:a16="http://schemas.microsoft.com/office/drawing/2014/main" id="{08A106B4-A8A6-42ED-995D-55993CFDDF2E}"/>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Manual processes can't keep up with demand</a:t>
            </a:r>
            <a:endParaRPr sz="3000"/>
          </a:p>
        </p:txBody>
      </p:sp>
      <p:sp>
        <p:nvSpPr>
          <p:cNvPr id="4" name="Shape 2">
            <a:extLst xmlns:a="http://schemas.openxmlformats.org/drawingml/2006/main">
              <a:ext uri="{FF2B5EF4-FFF2-40B4-BE49-F238E27FC236}">
                <a16:creationId xmlns:a16="http://schemas.microsoft.com/office/drawing/2014/main" id="{B1103488-886D-4966-A333-222A2B123736}"/>
              </a:ext>
            </a:extLst>
          </p:cNvPr>
          <p:cNvSpPr>
            <a:spLocks xmlns:a="http://schemas.openxmlformats.org/drawingml/2006/main" noGrp="1"/>
          </p:cNvSpPr>
          <p:nvPr/>
        </p:nvSpPr>
        <p:spPr>
          <a:xfrm xmlns:a="http://schemas.openxmlformats.org/drawingml/2006/main">
            <a:off x="640080" y="178308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5" name="Shape 3">
            <a:extLst xmlns:a="http://schemas.openxmlformats.org/drawingml/2006/main">
              <a:ext uri="{FF2B5EF4-FFF2-40B4-BE49-F238E27FC236}">
                <a16:creationId xmlns:a16="http://schemas.microsoft.com/office/drawing/2014/main" id="{7D2CEA78-8E85-450A-A937-2CC3D5676483}"/>
              </a:ext>
            </a:extLst>
          </p:cNvPr>
          <p:cNvSpPr>
            <a:spLocks xmlns:a="http://schemas.openxmlformats.org/drawingml/2006/main" noGrp="1"/>
          </p:cNvSpPr>
          <p:nvPr/>
        </p:nvSpPr>
        <p:spPr>
          <a:xfrm xmlns:a="http://schemas.openxmlformats.org/drawingml/2006/main">
            <a:off x="841248" y="2057400"/>
            <a:ext cx="457200" cy="457200"/>
          </a:xfrm>
          <a:prstGeom xmlns:a="http://schemas.openxmlformats.org/drawingml/2006/main" prst="ellipse">
            <a:avLst/>
          </a:prstGeom>
          <a:solidFill xmlns:a="http://schemas.openxmlformats.org/drawingml/2006/main">
            <a:srgbClr val="7A1F2B"/>
          </a:solidFill>
        </p:spPr>
      </p:sp>
      <p:sp>
        <p:nvSpPr>
          <p:cNvPr id="6" name="Text 4">
            <a:extLst xmlns:a="http://schemas.openxmlformats.org/drawingml/2006/main">
              <a:ext uri="{FF2B5EF4-FFF2-40B4-BE49-F238E27FC236}">
                <a16:creationId xmlns:a16="http://schemas.microsoft.com/office/drawing/2014/main" id="{422A9222-6BB3-4249-AAD2-B900ED7B4F05}"/>
              </a:ext>
            </a:extLst>
          </p:cNvPr>
          <p:cNvSpPr>
            <a:spLocks xmlns:a="http://schemas.openxmlformats.org/drawingml/2006/main" noGrp="1"/>
          </p:cNvSpPr>
          <p:nvPr/>
        </p:nvSpPr>
        <p:spPr>
          <a:xfrm xmlns:a="http://schemas.openxmlformats.org/drawingml/2006/main">
            <a:off x="841248" y="2057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7" name="Text 5">
            <a:extLst xmlns:a="http://schemas.openxmlformats.org/drawingml/2006/main">
              <a:ext uri="{FF2B5EF4-FFF2-40B4-BE49-F238E27FC236}">
                <a16:creationId xmlns:a16="http://schemas.microsoft.com/office/drawing/2014/main" id="{361034C1-2C38-45C4-BB19-6EF74DFD737B}"/>
              </a:ext>
            </a:extLst>
          </p:cNvPr>
          <p:cNvSpPr>
            <a:spLocks xmlns:a="http://schemas.openxmlformats.org/drawingml/2006/main" noGrp="1"/>
          </p:cNvSpPr>
          <p:nvPr/>
        </p:nvSpPr>
        <p:spPr>
          <a:xfrm xmlns:a="http://schemas.openxmlformats.org/drawingml/2006/main">
            <a:off x="1508760" y="189280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No real-time view of blood-group availability across donation centres</a:t>
            </a:r>
            <a:endParaRPr sz="1300"/>
          </a:p>
        </p:txBody>
      </p:sp>
      <p:sp>
        <p:nvSpPr>
          <p:cNvPr id="8" name="Shape 6">
            <a:extLst xmlns:a="http://schemas.openxmlformats.org/drawingml/2006/main">
              <a:ext uri="{FF2B5EF4-FFF2-40B4-BE49-F238E27FC236}">
                <a16:creationId xmlns:a16="http://schemas.microsoft.com/office/drawing/2014/main" id="{46BAAFE1-FC95-4453-A746-1C9ECC5B6C24}"/>
              </a:ext>
            </a:extLst>
          </p:cNvPr>
          <p:cNvSpPr>
            <a:spLocks xmlns:a="http://schemas.openxmlformats.org/drawingml/2006/main" noGrp="1"/>
          </p:cNvSpPr>
          <p:nvPr/>
        </p:nvSpPr>
        <p:spPr>
          <a:xfrm xmlns:a="http://schemas.openxmlformats.org/drawingml/2006/main">
            <a:off x="6309360" y="178308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9" name="Shape 7">
            <a:extLst xmlns:a="http://schemas.openxmlformats.org/drawingml/2006/main">
              <a:ext uri="{FF2B5EF4-FFF2-40B4-BE49-F238E27FC236}">
                <a16:creationId xmlns:a16="http://schemas.microsoft.com/office/drawing/2014/main" id="{2F885A22-F775-4A2F-AC1C-3A0F024E761A}"/>
              </a:ext>
            </a:extLst>
          </p:cNvPr>
          <p:cNvSpPr>
            <a:spLocks xmlns:a="http://schemas.openxmlformats.org/drawingml/2006/main" noGrp="1"/>
          </p:cNvSpPr>
          <p:nvPr/>
        </p:nvSpPr>
        <p:spPr>
          <a:xfrm xmlns:a="http://schemas.openxmlformats.org/drawingml/2006/main">
            <a:off x="6510528" y="2057400"/>
            <a:ext cx="457200" cy="457200"/>
          </a:xfrm>
          <a:prstGeom xmlns:a="http://schemas.openxmlformats.org/drawingml/2006/main" prst="ellipse">
            <a:avLst/>
          </a:prstGeom>
          <a:solidFill xmlns:a="http://schemas.openxmlformats.org/drawingml/2006/main">
            <a:srgbClr val="7A1F2B"/>
          </a:solidFill>
        </p:spPr>
      </p:sp>
      <p:sp>
        <p:nvSpPr>
          <p:cNvPr id="10" name="Text 8">
            <a:extLst xmlns:a="http://schemas.openxmlformats.org/drawingml/2006/main">
              <a:ext uri="{FF2B5EF4-FFF2-40B4-BE49-F238E27FC236}">
                <a16:creationId xmlns:a16="http://schemas.microsoft.com/office/drawing/2014/main" id="{373E0C24-797C-4DC9-A46B-CF28BA6AFF51}"/>
              </a:ext>
            </a:extLst>
          </p:cNvPr>
          <p:cNvSpPr>
            <a:spLocks xmlns:a="http://schemas.openxmlformats.org/drawingml/2006/main" noGrp="1"/>
          </p:cNvSpPr>
          <p:nvPr/>
        </p:nvSpPr>
        <p:spPr>
          <a:xfrm xmlns:a="http://schemas.openxmlformats.org/drawingml/2006/main">
            <a:off x="6510528" y="2057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1" name="Text 9">
            <a:extLst xmlns:a="http://schemas.openxmlformats.org/drawingml/2006/main">
              <a:ext uri="{FF2B5EF4-FFF2-40B4-BE49-F238E27FC236}">
                <a16:creationId xmlns:a16="http://schemas.microsoft.com/office/drawing/2014/main" id="{E00F57C8-1C5C-44D7-B0C2-4433CE162EE8}"/>
              </a:ext>
            </a:extLst>
          </p:cNvPr>
          <p:cNvSpPr>
            <a:spLocks xmlns:a="http://schemas.openxmlformats.org/drawingml/2006/main" noGrp="1"/>
          </p:cNvSpPr>
          <p:nvPr/>
        </p:nvSpPr>
        <p:spPr>
          <a:xfrm xmlns:a="http://schemas.openxmlformats.org/drawingml/2006/main">
            <a:off x="7178040" y="189280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Shortages are discovered only after stock is already critically low</a:t>
            </a:r>
            <a:endParaRPr sz="1300"/>
          </a:p>
        </p:txBody>
      </p:sp>
      <p:sp>
        <p:nvSpPr>
          <p:cNvPr id="12" name="Shape 10">
            <a:extLst xmlns:a="http://schemas.openxmlformats.org/drawingml/2006/main">
              <a:ext uri="{FF2B5EF4-FFF2-40B4-BE49-F238E27FC236}">
                <a16:creationId xmlns:a16="http://schemas.microsoft.com/office/drawing/2014/main" id="{38DA41BC-C7C0-4A7C-AB29-CFDD89EFE1B4}"/>
              </a:ext>
            </a:extLst>
          </p:cNvPr>
          <p:cNvSpPr>
            <a:spLocks xmlns:a="http://schemas.openxmlformats.org/drawingml/2006/main" noGrp="1"/>
          </p:cNvSpPr>
          <p:nvPr/>
        </p:nvSpPr>
        <p:spPr>
          <a:xfrm xmlns:a="http://schemas.openxmlformats.org/drawingml/2006/main">
            <a:off x="640080" y="301752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13" name="Shape 11">
            <a:extLst xmlns:a="http://schemas.openxmlformats.org/drawingml/2006/main">
              <a:ext uri="{FF2B5EF4-FFF2-40B4-BE49-F238E27FC236}">
                <a16:creationId xmlns:a16="http://schemas.microsoft.com/office/drawing/2014/main" id="{32911202-A9D9-4C2F-8A70-FC686187FB1C}"/>
              </a:ext>
            </a:extLst>
          </p:cNvPr>
          <p:cNvSpPr>
            <a:spLocks xmlns:a="http://schemas.openxmlformats.org/drawingml/2006/main" noGrp="1"/>
          </p:cNvSpPr>
          <p:nvPr/>
        </p:nvSpPr>
        <p:spPr>
          <a:xfrm xmlns:a="http://schemas.openxmlformats.org/drawingml/2006/main">
            <a:off x="841248" y="3291840"/>
            <a:ext cx="457200" cy="457200"/>
          </a:xfrm>
          <a:prstGeom xmlns:a="http://schemas.openxmlformats.org/drawingml/2006/main" prst="ellipse">
            <a:avLst/>
          </a:prstGeom>
          <a:solidFill xmlns:a="http://schemas.openxmlformats.org/drawingml/2006/main">
            <a:srgbClr val="7A1F2B"/>
          </a:solidFill>
        </p:spPr>
      </p:sp>
      <p:sp>
        <p:nvSpPr>
          <p:cNvPr id="14" name="Text 12">
            <a:extLst xmlns:a="http://schemas.openxmlformats.org/drawingml/2006/main">
              <a:ext uri="{FF2B5EF4-FFF2-40B4-BE49-F238E27FC236}">
                <a16:creationId xmlns:a16="http://schemas.microsoft.com/office/drawing/2014/main" id="{B1E95683-44D8-4008-B684-DB2DD036E62E}"/>
              </a:ext>
            </a:extLst>
          </p:cNvPr>
          <p:cNvSpPr>
            <a:spLocks xmlns:a="http://schemas.openxmlformats.org/drawingml/2006/main" noGrp="1"/>
          </p:cNvSpPr>
          <p:nvPr/>
        </p:nvSpPr>
        <p:spPr>
          <a:xfrm xmlns:a="http://schemas.openxmlformats.org/drawingml/2006/main">
            <a:off x="841248" y="32918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5" name="Text 13">
            <a:extLst xmlns:a="http://schemas.openxmlformats.org/drawingml/2006/main">
              <a:ext uri="{FF2B5EF4-FFF2-40B4-BE49-F238E27FC236}">
                <a16:creationId xmlns:a16="http://schemas.microsoft.com/office/drawing/2014/main" id="{B624B171-FEF2-4583-A805-A703F26E0CDF}"/>
              </a:ext>
            </a:extLst>
          </p:cNvPr>
          <p:cNvSpPr>
            <a:spLocks xmlns:a="http://schemas.openxmlformats.org/drawingml/2006/main" noGrp="1"/>
          </p:cNvSpPr>
          <p:nvPr/>
        </p:nvSpPr>
        <p:spPr>
          <a:xfrm xmlns:a="http://schemas.openxmlformats.org/drawingml/2006/main">
            <a:off x="1508760" y="312724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Manually phoning donors during a shortage is slow and unreliable</a:t>
            </a:r>
            <a:endParaRPr sz="1300"/>
          </a:p>
        </p:txBody>
      </p:sp>
      <p:sp>
        <p:nvSpPr>
          <p:cNvPr id="16" name="Shape 14">
            <a:extLst xmlns:a="http://schemas.openxmlformats.org/drawingml/2006/main">
              <a:ext uri="{FF2B5EF4-FFF2-40B4-BE49-F238E27FC236}">
                <a16:creationId xmlns:a16="http://schemas.microsoft.com/office/drawing/2014/main" id="{19E6F292-1674-4DEE-9B07-940CED230567}"/>
              </a:ext>
            </a:extLst>
          </p:cNvPr>
          <p:cNvSpPr>
            <a:spLocks xmlns:a="http://schemas.openxmlformats.org/drawingml/2006/main" noGrp="1"/>
          </p:cNvSpPr>
          <p:nvPr/>
        </p:nvSpPr>
        <p:spPr>
          <a:xfrm xmlns:a="http://schemas.openxmlformats.org/drawingml/2006/main">
            <a:off x="6309360" y="301752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17" name="Shape 15">
            <a:extLst xmlns:a="http://schemas.openxmlformats.org/drawingml/2006/main">
              <a:ext uri="{FF2B5EF4-FFF2-40B4-BE49-F238E27FC236}">
                <a16:creationId xmlns:a16="http://schemas.microsoft.com/office/drawing/2014/main" id="{2F569A8E-C2BA-4265-AB0A-473EBF93BFCD}"/>
              </a:ext>
            </a:extLst>
          </p:cNvPr>
          <p:cNvSpPr>
            <a:spLocks xmlns:a="http://schemas.openxmlformats.org/drawingml/2006/main" noGrp="1"/>
          </p:cNvSpPr>
          <p:nvPr/>
        </p:nvSpPr>
        <p:spPr>
          <a:xfrm xmlns:a="http://schemas.openxmlformats.org/drawingml/2006/main">
            <a:off x="6510528" y="3291840"/>
            <a:ext cx="457200" cy="457200"/>
          </a:xfrm>
          <a:prstGeom xmlns:a="http://schemas.openxmlformats.org/drawingml/2006/main" prst="ellipse">
            <a:avLst/>
          </a:prstGeom>
          <a:solidFill xmlns:a="http://schemas.openxmlformats.org/drawingml/2006/main">
            <a:srgbClr val="7A1F2B"/>
          </a:solidFill>
        </p:spPr>
      </p:sp>
      <p:sp>
        <p:nvSpPr>
          <p:cNvPr id="18" name="Text 16">
            <a:extLst xmlns:a="http://schemas.openxmlformats.org/drawingml/2006/main">
              <a:ext uri="{FF2B5EF4-FFF2-40B4-BE49-F238E27FC236}">
                <a16:creationId xmlns:a16="http://schemas.microsoft.com/office/drawing/2014/main" id="{7E8DE8D3-55B6-41E8-A736-8CEFF232D821}"/>
              </a:ext>
            </a:extLst>
          </p:cNvPr>
          <p:cNvSpPr>
            <a:spLocks xmlns:a="http://schemas.openxmlformats.org/drawingml/2006/main" noGrp="1"/>
          </p:cNvSpPr>
          <p:nvPr/>
        </p:nvSpPr>
        <p:spPr>
          <a:xfrm xmlns:a="http://schemas.openxmlformats.org/drawingml/2006/main">
            <a:off x="6510528" y="329184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9" name="Text 17">
            <a:extLst xmlns:a="http://schemas.openxmlformats.org/drawingml/2006/main">
              <a:ext uri="{FF2B5EF4-FFF2-40B4-BE49-F238E27FC236}">
                <a16:creationId xmlns:a16="http://schemas.microsoft.com/office/drawing/2014/main" id="{92567894-BC8E-4292-8E7E-5C8E2AECEBA5}"/>
              </a:ext>
            </a:extLst>
          </p:cNvPr>
          <p:cNvSpPr>
            <a:spLocks xmlns:a="http://schemas.openxmlformats.org/drawingml/2006/main" noGrp="1"/>
          </p:cNvSpPr>
          <p:nvPr/>
        </p:nvSpPr>
        <p:spPr>
          <a:xfrm xmlns:a="http://schemas.openxmlformats.org/drawingml/2006/main">
            <a:off x="7178040" y="312724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Weak tracking of expiry dates risks wastage of collected units</a:t>
            </a:r>
            <a:endParaRPr sz="1300"/>
          </a:p>
        </p:txBody>
      </p:sp>
      <p:sp>
        <p:nvSpPr>
          <p:cNvPr id="20" name="Shape 18">
            <a:extLst xmlns:a="http://schemas.openxmlformats.org/drawingml/2006/main">
              <a:ext uri="{FF2B5EF4-FFF2-40B4-BE49-F238E27FC236}">
                <a16:creationId xmlns:a16="http://schemas.microsoft.com/office/drawing/2014/main" id="{D6BF25FE-73EB-4415-929E-234975FB1044}"/>
              </a:ext>
            </a:extLst>
          </p:cNvPr>
          <p:cNvSpPr>
            <a:spLocks xmlns:a="http://schemas.openxmlformats.org/drawingml/2006/main" noGrp="1"/>
          </p:cNvSpPr>
          <p:nvPr/>
        </p:nvSpPr>
        <p:spPr>
          <a:xfrm xmlns:a="http://schemas.openxmlformats.org/drawingml/2006/main">
            <a:off x="640080" y="425196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21" name="Shape 19">
            <a:extLst xmlns:a="http://schemas.openxmlformats.org/drawingml/2006/main">
              <a:ext uri="{FF2B5EF4-FFF2-40B4-BE49-F238E27FC236}">
                <a16:creationId xmlns:a16="http://schemas.microsoft.com/office/drawing/2014/main" id="{2FC3A162-8E7C-4225-B5E4-9A49CEACFB13}"/>
              </a:ext>
            </a:extLst>
          </p:cNvPr>
          <p:cNvSpPr>
            <a:spLocks xmlns:a="http://schemas.openxmlformats.org/drawingml/2006/main" noGrp="1"/>
          </p:cNvSpPr>
          <p:nvPr/>
        </p:nvSpPr>
        <p:spPr>
          <a:xfrm xmlns:a="http://schemas.openxmlformats.org/drawingml/2006/main">
            <a:off x="841248" y="4526280"/>
            <a:ext cx="457200" cy="457200"/>
          </a:xfrm>
          <a:prstGeom xmlns:a="http://schemas.openxmlformats.org/drawingml/2006/main" prst="ellipse">
            <a:avLst/>
          </a:prstGeom>
          <a:solidFill xmlns:a="http://schemas.openxmlformats.org/drawingml/2006/main">
            <a:srgbClr val="7A1F2B"/>
          </a:solidFill>
        </p:spPr>
      </p:sp>
      <p:sp>
        <p:nvSpPr>
          <p:cNvPr id="22" name="Text 20">
            <a:extLst xmlns:a="http://schemas.openxmlformats.org/drawingml/2006/main">
              <a:ext uri="{FF2B5EF4-FFF2-40B4-BE49-F238E27FC236}">
                <a16:creationId xmlns:a16="http://schemas.microsoft.com/office/drawing/2014/main" id="{DBFBB456-9E91-4D8C-A3EC-BBF8C03FE0EC}"/>
              </a:ext>
            </a:extLst>
          </p:cNvPr>
          <p:cNvSpPr>
            <a:spLocks xmlns:a="http://schemas.openxmlformats.org/drawingml/2006/main" noGrp="1"/>
          </p:cNvSpPr>
          <p:nvPr/>
        </p:nvSpPr>
        <p:spPr>
          <a:xfrm xmlns:a="http://schemas.openxmlformats.org/drawingml/2006/main">
            <a:off x="841248" y="45262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3" name="Text 21">
            <a:extLst xmlns:a="http://schemas.openxmlformats.org/drawingml/2006/main">
              <a:ext uri="{FF2B5EF4-FFF2-40B4-BE49-F238E27FC236}">
                <a16:creationId xmlns:a16="http://schemas.microsoft.com/office/drawing/2014/main" id="{3E2580C9-9B56-466B-874A-C3E824005C5A}"/>
              </a:ext>
            </a:extLst>
          </p:cNvPr>
          <p:cNvSpPr>
            <a:spLocks xmlns:a="http://schemas.openxmlformats.org/drawingml/2006/main" noGrp="1"/>
          </p:cNvSpPr>
          <p:nvPr/>
        </p:nvSpPr>
        <p:spPr>
          <a:xfrm xmlns:a="http://schemas.openxmlformats.org/drawingml/2006/main">
            <a:off x="1508760" y="436168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Limited analytics — no way to forecast demand or spot trends</a:t>
            </a:r>
            <a:endParaRPr sz="1300"/>
          </a:p>
        </p:txBody>
      </p:sp>
      <p:sp>
        <p:nvSpPr>
          <p:cNvPr id="24" name="Shape 22">
            <a:extLst xmlns:a="http://schemas.openxmlformats.org/drawingml/2006/main">
              <a:ext uri="{FF2B5EF4-FFF2-40B4-BE49-F238E27FC236}">
                <a16:creationId xmlns:a16="http://schemas.microsoft.com/office/drawing/2014/main" id="{E9E4D6F0-1164-4CD3-9B20-B3DA96EF9D52}"/>
              </a:ext>
            </a:extLst>
          </p:cNvPr>
          <p:cNvSpPr>
            <a:spLocks xmlns:a="http://schemas.openxmlformats.org/drawingml/2006/main" noGrp="1"/>
          </p:cNvSpPr>
          <p:nvPr/>
        </p:nvSpPr>
        <p:spPr>
          <a:xfrm xmlns:a="http://schemas.openxmlformats.org/drawingml/2006/main">
            <a:off x="6309360" y="4251960"/>
            <a:ext cx="5257800" cy="1051560"/>
          </a:xfrm>
          <a:prstGeom xmlns:a="http://schemas.openxmlformats.org/drawingml/2006/main" prst="roundRect">
            <a:avLst>
              <a:gd name="adj" fmla="val 8696"/>
            </a:avLst>
          </a:prstGeom>
          <a:solidFill xmlns:a="http://schemas.openxmlformats.org/drawingml/2006/main">
            <a:srgbClr val="F7F7F7"/>
          </a:solidFill>
        </p:spPr>
      </p:sp>
      <p:sp>
        <p:nvSpPr>
          <p:cNvPr id="25" name="Shape 23">
            <a:extLst xmlns:a="http://schemas.openxmlformats.org/drawingml/2006/main">
              <a:ext uri="{FF2B5EF4-FFF2-40B4-BE49-F238E27FC236}">
                <a16:creationId xmlns:a16="http://schemas.microsoft.com/office/drawing/2014/main" id="{6283FD83-BEF9-41A9-901E-DE15EC00ECF5}"/>
              </a:ext>
            </a:extLst>
          </p:cNvPr>
          <p:cNvSpPr>
            <a:spLocks xmlns:a="http://schemas.openxmlformats.org/drawingml/2006/main" noGrp="1"/>
          </p:cNvSpPr>
          <p:nvPr/>
        </p:nvSpPr>
        <p:spPr>
          <a:xfrm xmlns:a="http://schemas.openxmlformats.org/drawingml/2006/main">
            <a:off x="6510528" y="4526280"/>
            <a:ext cx="457200" cy="457200"/>
          </a:xfrm>
          <a:prstGeom xmlns:a="http://schemas.openxmlformats.org/drawingml/2006/main" prst="ellipse">
            <a:avLst/>
          </a:prstGeom>
          <a:solidFill xmlns:a="http://schemas.openxmlformats.org/drawingml/2006/main">
            <a:srgbClr val="7A1F2B"/>
          </a:solidFill>
        </p:spPr>
      </p:sp>
      <p:sp>
        <p:nvSpPr>
          <p:cNvPr id="26" name="Text 24">
            <a:extLst xmlns:a="http://schemas.openxmlformats.org/drawingml/2006/main">
              <a:ext uri="{FF2B5EF4-FFF2-40B4-BE49-F238E27FC236}">
                <a16:creationId xmlns:a16="http://schemas.microsoft.com/office/drawing/2014/main" id="{BEDBC782-2CC9-4ECA-BC09-3C86B496FB5A}"/>
              </a:ext>
            </a:extLst>
          </p:cNvPr>
          <p:cNvSpPr>
            <a:spLocks xmlns:a="http://schemas.openxmlformats.org/drawingml/2006/main" noGrp="1"/>
          </p:cNvSpPr>
          <p:nvPr/>
        </p:nvSpPr>
        <p:spPr>
          <a:xfrm xmlns:a="http://schemas.openxmlformats.org/drawingml/2006/main">
            <a:off x="6510528" y="45262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7" name="Text 25">
            <a:extLst xmlns:a="http://schemas.openxmlformats.org/drawingml/2006/main">
              <a:ext uri="{FF2B5EF4-FFF2-40B4-BE49-F238E27FC236}">
                <a16:creationId xmlns:a16="http://schemas.microsoft.com/office/drawing/2014/main" id="{9D9F3DAB-D5BD-4A7E-BCD0-47DF9F6772AE}"/>
              </a:ext>
            </a:extLst>
          </p:cNvPr>
          <p:cNvSpPr>
            <a:spLocks xmlns:a="http://schemas.openxmlformats.org/drawingml/2006/main" noGrp="1"/>
          </p:cNvSpPr>
          <p:nvPr/>
        </p:nvSpPr>
        <p:spPr>
          <a:xfrm xmlns:a="http://schemas.openxmlformats.org/drawingml/2006/main">
            <a:off x="7178040" y="4361688"/>
            <a:ext cx="42062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00">
                <a:solidFill>
                  <a:srgbClr val="1A1A1A"/>
                </a:solidFill>
                <a:latin typeface="Calibri"/>
                <a:ea typeface="Calibri"/>
                <a:cs typeface="Calibri"/>
              </a:rPr>
              <a:t>Weak audit trail makes it hard to trace who recorded what</a:t>
            </a:r>
            <a:endParaRPr sz="1300"/>
          </a:p>
        </p:txBody>
      </p:sp>
      <p:sp>
        <p:nvSpPr>
          <p:cNvPr id="28" name="Text 26">
            <a:extLst xmlns:a="http://schemas.openxmlformats.org/drawingml/2006/main">
              <a:ext uri="{FF2B5EF4-FFF2-40B4-BE49-F238E27FC236}">
                <a16:creationId xmlns:a16="http://schemas.microsoft.com/office/drawing/2014/main" id="{04577D6E-A724-4D83-890B-084A990B8DCF}"/>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3</a:t>
            </a:r>
            <a:endParaRPr sz="1000"/>
          </a:p>
        </p:txBody>
      </p:sp>
    </p:spTree>
    <p:extLst>
      <p:ext uri="{BB962C8B-B14F-4D97-AF65-F5344CB8AC3E}">
        <p14:creationId xmlns:p14="http://schemas.microsoft.com/office/powerpoint/2010/main" val="618723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08BEAA-BDF5-4D06-B532-B4163264972A}"/>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OBJECTIVES</a:t>
            </a:r>
            <a:endParaRPr sz="1200"/>
          </a:p>
        </p:txBody>
      </p:sp>
      <p:sp>
        <p:nvSpPr>
          <p:cNvPr id="3" name="Text 1">
            <a:extLst xmlns:a="http://schemas.openxmlformats.org/drawingml/2006/main">
              <a:ext uri="{FF2B5EF4-FFF2-40B4-BE49-F238E27FC236}">
                <a16:creationId xmlns:a16="http://schemas.microsoft.com/office/drawing/2014/main" id="{0F371F43-A504-4F0C-BF86-42115F007CA7}"/>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What the project set out to build</a:t>
            </a:r>
            <a:endParaRPr sz="3000"/>
          </a:p>
        </p:txBody>
      </p:sp>
      <p:sp>
        <p:nvSpPr>
          <p:cNvPr id="4" name="Shape 2">
            <a:extLst xmlns:a="http://schemas.openxmlformats.org/drawingml/2006/main">
              <a:ext uri="{FF2B5EF4-FFF2-40B4-BE49-F238E27FC236}">
                <a16:creationId xmlns:a16="http://schemas.microsoft.com/office/drawing/2014/main" id="{35E116FA-59F7-4ADA-A4FA-5A7046B33ADF}"/>
              </a:ext>
            </a:extLst>
          </p:cNvPr>
          <p:cNvSpPr>
            <a:spLocks xmlns:a="http://schemas.openxmlformats.org/drawingml/2006/main" noGrp="1"/>
          </p:cNvSpPr>
          <p:nvPr/>
        </p:nvSpPr>
        <p:spPr>
          <a:xfrm xmlns:a="http://schemas.openxmlformats.org/drawingml/2006/main">
            <a:off x="548640" y="1554480"/>
            <a:ext cx="11064240" cy="777240"/>
          </a:xfrm>
          <a:prstGeom xmlns:a="http://schemas.openxmlformats.org/drawingml/2006/main" prst="roundRect">
            <a:avLst>
              <a:gd name="adj" fmla="val 11765"/>
            </a:avLst>
          </a:prstGeom>
          <a:solidFill xmlns:a="http://schemas.openxmlformats.org/drawingml/2006/main">
            <a:srgbClr val="7A1F2B"/>
          </a:solidFill>
        </p:spPr>
      </p:sp>
      <p:sp>
        <p:nvSpPr>
          <p:cNvPr id="5" name="Text 3">
            <a:extLst xmlns:a="http://schemas.openxmlformats.org/drawingml/2006/main">
              <a:ext uri="{FF2B5EF4-FFF2-40B4-BE49-F238E27FC236}">
                <a16:creationId xmlns:a16="http://schemas.microsoft.com/office/drawing/2014/main" id="{240C81F8-2B01-4E83-8C41-13D0517F0D3E}"/>
              </a:ext>
            </a:extLst>
          </p:cNvPr>
          <p:cNvSpPr>
            <a:spLocks xmlns:a="http://schemas.openxmlformats.org/drawingml/2006/main" noGrp="1"/>
          </p:cNvSpPr>
          <p:nvPr/>
        </p:nvSpPr>
        <p:spPr>
          <a:xfrm xmlns:a="http://schemas.openxmlformats.org/drawingml/2006/main">
            <a:off x="822960" y="1554480"/>
            <a:ext cx="1051560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350" b="1">
                <a:solidFill>
                  <a:srgbClr val="FFFFFF"/>
                </a:solidFill>
                <a:latin typeface="Calibri"/>
                <a:ea typeface="Calibri"/>
                <a:cs typeface="Calibri"/>
              </a:rPr>
              <a:t>General objective:  </a:t>
            </a:r>
            <a:r>
              <a:rPr sz="1350">
                <a:solidFill>
                  <a:srgbClr val="F2DEE0"/>
                </a:solidFill>
                <a:latin typeface="Calibri"/>
                <a:ea typeface="Calibri"/>
                <a:cs typeface="Calibri"/>
              </a:rPr>
              <a:t>Design and implement an AI-enhanced system to predict blood demand, manage inventory, and notify donors — reducing shortages and wastage at NBTS.</a:t>
            </a:r>
            <a:endParaRPr sz="1350"/>
          </a:p>
        </p:txBody>
      </p:sp>
      <p:sp>
        <p:nvSpPr>
          <p:cNvPr id="6" name="Shape 4">
            <a:extLst xmlns:a="http://schemas.openxmlformats.org/drawingml/2006/main">
              <a:ext uri="{FF2B5EF4-FFF2-40B4-BE49-F238E27FC236}">
                <a16:creationId xmlns:a16="http://schemas.microsoft.com/office/drawing/2014/main" id="{53941781-FFB2-41FA-83D8-C5F9AC7177C2}"/>
              </a:ext>
            </a:extLst>
          </p:cNvPr>
          <p:cNvSpPr>
            <a:spLocks xmlns:a="http://schemas.openxmlformats.org/drawingml/2006/main" noGrp="1"/>
          </p:cNvSpPr>
          <p:nvPr/>
        </p:nvSpPr>
        <p:spPr>
          <a:xfrm xmlns:a="http://schemas.openxmlformats.org/drawingml/2006/main">
            <a:off x="548640" y="2743200"/>
            <a:ext cx="384048" cy="384048"/>
          </a:xfrm>
          <a:prstGeom xmlns:a="http://schemas.openxmlformats.org/drawingml/2006/main" prst="ellipse">
            <a:avLst/>
          </a:prstGeom>
          <a:solidFill xmlns:a="http://schemas.openxmlformats.org/drawingml/2006/main">
            <a:srgbClr val="2E4374"/>
          </a:solidFill>
        </p:spPr>
      </p:sp>
      <p:sp>
        <p:nvSpPr>
          <p:cNvPr id="7" name="Text 5">
            <a:extLst xmlns:a="http://schemas.openxmlformats.org/drawingml/2006/main">
              <a:ext uri="{FF2B5EF4-FFF2-40B4-BE49-F238E27FC236}">
                <a16:creationId xmlns:a16="http://schemas.microsoft.com/office/drawing/2014/main" id="{E7A18C29-8342-4940-B681-0B9702B38002}"/>
              </a:ext>
            </a:extLst>
          </p:cNvPr>
          <p:cNvSpPr>
            <a:spLocks xmlns:a="http://schemas.openxmlformats.org/drawingml/2006/main" noGrp="1"/>
          </p:cNvSpPr>
          <p:nvPr/>
        </p:nvSpPr>
        <p:spPr>
          <a:xfrm xmlns:a="http://schemas.openxmlformats.org/drawingml/2006/main">
            <a:off x="54864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1</a:t>
            </a:r>
            <a:endParaRPr sz="1300"/>
          </a:p>
        </p:txBody>
      </p:sp>
      <p:sp>
        <p:nvSpPr>
          <p:cNvPr id="8" name="Text 6">
            <a:extLst xmlns:a="http://schemas.openxmlformats.org/drawingml/2006/main">
              <a:ext uri="{FF2B5EF4-FFF2-40B4-BE49-F238E27FC236}">
                <a16:creationId xmlns:a16="http://schemas.microsoft.com/office/drawing/2014/main" id="{FFD3EC95-DE07-4D47-ACD6-78FAFA3AA371}"/>
              </a:ext>
            </a:extLst>
          </p:cNvPr>
          <p:cNvSpPr>
            <a:spLocks xmlns:a="http://schemas.openxmlformats.org/drawingml/2006/main" noGrp="1"/>
          </p:cNvSpPr>
          <p:nvPr/>
        </p:nvSpPr>
        <p:spPr>
          <a:xfrm xmlns:a="http://schemas.openxmlformats.org/drawingml/2006/main">
            <a:off x="54864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Analyse existing collection &amp; donor-communication processes</a:t>
            </a:r>
            <a:endParaRPr sz="1250"/>
          </a:p>
        </p:txBody>
      </p:sp>
      <p:sp>
        <p:nvSpPr>
          <p:cNvPr id="9" name="Shape 7">
            <a:extLst xmlns:a="http://schemas.openxmlformats.org/drawingml/2006/main">
              <a:ext uri="{FF2B5EF4-FFF2-40B4-BE49-F238E27FC236}">
                <a16:creationId xmlns:a16="http://schemas.microsoft.com/office/drawing/2014/main" id="{57495167-4AFE-4E90-B373-DFF1C0F8F2E5}"/>
              </a:ext>
            </a:extLst>
          </p:cNvPr>
          <p:cNvSpPr>
            <a:spLocks xmlns:a="http://schemas.openxmlformats.org/drawingml/2006/main" noGrp="1"/>
          </p:cNvSpPr>
          <p:nvPr/>
        </p:nvSpPr>
        <p:spPr>
          <a:xfrm xmlns:a="http://schemas.openxmlformats.org/drawingml/2006/main">
            <a:off x="3337560" y="2743200"/>
            <a:ext cx="384048" cy="384048"/>
          </a:xfrm>
          <a:prstGeom xmlns:a="http://schemas.openxmlformats.org/drawingml/2006/main" prst="ellipse">
            <a:avLst/>
          </a:prstGeom>
          <a:solidFill xmlns:a="http://schemas.openxmlformats.org/drawingml/2006/main">
            <a:srgbClr val="2E4374"/>
          </a:solidFill>
        </p:spPr>
      </p:sp>
      <p:sp>
        <p:nvSpPr>
          <p:cNvPr id="10" name="Text 8">
            <a:extLst xmlns:a="http://schemas.openxmlformats.org/drawingml/2006/main">
              <a:ext uri="{FF2B5EF4-FFF2-40B4-BE49-F238E27FC236}">
                <a16:creationId xmlns:a16="http://schemas.microsoft.com/office/drawing/2014/main" id="{75EBE404-A117-445B-9275-ADA0D96D3599}"/>
              </a:ext>
            </a:extLst>
          </p:cNvPr>
          <p:cNvSpPr>
            <a:spLocks xmlns:a="http://schemas.openxmlformats.org/drawingml/2006/main" noGrp="1"/>
          </p:cNvSpPr>
          <p:nvPr/>
        </p:nvSpPr>
        <p:spPr>
          <a:xfrm xmlns:a="http://schemas.openxmlformats.org/drawingml/2006/main">
            <a:off x="333756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2</a:t>
            </a:r>
            <a:endParaRPr sz="1300"/>
          </a:p>
        </p:txBody>
      </p:sp>
      <p:sp>
        <p:nvSpPr>
          <p:cNvPr id="11" name="Text 9">
            <a:extLst xmlns:a="http://schemas.openxmlformats.org/drawingml/2006/main">
              <a:ext uri="{FF2B5EF4-FFF2-40B4-BE49-F238E27FC236}">
                <a16:creationId xmlns:a16="http://schemas.microsoft.com/office/drawing/2014/main" id="{83BF916E-FA0E-4707-AB31-7F8A09B056DB}"/>
              </a:ext>
            </a:extLst>
          </p:cNvPr>
          <p:cNvSpPr>
            <a:spLocks xmlns:a="http://schemas.openxmlformats.org/drawingml/2006/main" noGrp="1"/>
          </p:cNvSpPr>
          <p:nvPr/>
        </p:nvSpPr>
        <p:spPr>
          <a:xfrm xmlns:a="http://schemas.openxmlformats.org/drawingml/2006/main">
            <a:off x="333756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Design a centralised relational database</a:t>
            </a:r>
            <a:endParaRPr sz="1250"/>
          </a:p>
        </p:txBody>
      </p:sp>
      <p:sp>
        <p:nvSpPr>
          <p:cNvPr id="12" name="Shape 10">
            <a:extLst xmlns:a="http://schemas.openxmlformats.org/drawingml/2006/main">
              <a:ext uri="{FF2B5EF4-FFF2-40B4-BE49-F238E27FC236}">
                <a16:creationId xmlns:a16="http://schemas.microsoft.com/office/drawing/2014/main" id="{B6B758A2-4674-4512-A4EE-F1A8D0CB8879}"/>
              </a:ext>
            </a:extLst>
          </p:cNvPr>
          <p:cNvSpPr>
            <a:spLocks xmlns:a="http://schemas.openxmlformats.org/drawingml/2006/main" noGrp="1"/>
          </p:cNvSpPr>
          <p:nvPr/>
        </p:nvSpPr>
        <p:spPr>
          <a:xfrm xmlns:a="http://schemas.openxmlformats.org/drawingml/2006/main">
            <a:off x="6126480" y="2743200"/>
            <a:ext cx="384048" cy="384048"/>
          </a:xfrm>
          <a:prstGeom xmlns:a="http://schemas.openxmlformats.org/drawingml/2006/main" prst="ellipse">
            <a:avLst/>
          </a:prstGeom>
          <a:solidFill xmlns:a="http://schemas.openxmlformats.org/drawingml/2006/main">
            <a:srgbClr val="2E4374"/>
          </a:solidFill>
        </p:spPr>
      </p:sp>
      <p:sp>
        <p:nvSpPr>
          <p:cNvPr id="13" name="Text 11">
            <a:extLst xmlns:a="http://schemas.openxmlformats.org/drawingml/2006/main">
              <a:ext uri="{FF2B5EF4-FFF2-40B4-BE49-F238E27FC236}">
                <a16:creationId xmlns:a16="http://schemas.microsoft.com/office/drawing/2014/main" id="{E921B242-F213-4368-B18A-C7BC07806415}"/>
              </a:ext>
            </a:extLst>
          </p:cNvPr>
          <p:cNvSpPr>
            <a:spLocks xmlns:a="http://schemas.openxmlformats.org/drawingml/2006/main" noGrp="1"/>
          </p:cNvSpPr>
          <p:nvPr/>
        </p:nvSpPr>
        <p:spPr>
          <a:xfrm xmlns:a="http://schemas.openxmlformats.org/drawingml/2006/main">
            <a:off x="612648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3</a:t>
            </a:r>
            <a:endParaRPr sz="1300"/>
          </a:p>
        </p:txBody>
      </p:sp>
      <p:sp>
        <p:nvSpPr>
          <p:cNvPr id="14" name="Text 12">
            <a:extLst xmlns:a="http://schemas.openxmlformats.org/drawingml/2006/main">
              <a:ext uri="{FF2B5EF4-FFF2-40B4-BE49-F238E27FC236}">
                <a16:creationId xmlns:a16="http://schemas.microsoft.com/office/drawing/2014/main" id="{C74F48EB-E6F4-4A93-A45C-5F217D89118D}"/>
              </a:ext>
            </a:extLst>
          </p:cNvPr>
          <p:cNvSpPr>
            <a:spLocks xmlns:a="http://schemas.openxmlformats.org/drawingml/2006/main" noGrp="1"/>
          </p:cNvSpPr>
          <p:nvPr/>
        </p:nvSpPr>
        <p:spPr>
          <a:xfrm xmlns:a="http://schemas.openxmlformats.org/drawingml/2006/main">
            <a:off x="612648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Build blood-group inventory management with expiry tracking</a:t>
            </a:r>
            <a:endParaRPr sz="1250"/>
          </a:p>
        </p:txBody>
      </p:sp>
      <p:sp>
        <p:nvSpPr>
          <p:cNvPr id="15" name="Shape 13">
            <a:extLst xmlns:a="http://schemas.openxmlformats.org/drawingml/2006/main">
              <a:ext uri="{FF2B5EF4-FFF2-40B4-BE49-F238E27FC236}">
                <a16:creationId xmlns:a16="http://schemas.microsoft.com/office/drawing/2014/main" id="{7D388411-5998-4F7F-9ADD-F3A66CF33010}"/>
              </a:ext>
            </a:extLst>
          </p:cNvPr>
          <p:cNvSpPr>
            <a:spLocks xmlns:a="http://schemas.openxmlformats.org/drawingml/2006/main" noGrp="1"/>
          </p:cNvSpPr>
          <p:nvPr/>
        </p:nvSpPr>
        <p:spPr>
          <a:xfrm xmlns:a="http://schemas.openxmlformats.org/drawingml/2006/main">
            <a:off x="8915400" y="2743200"/>
            <a:ext cx="384048" cy="384048"/>
          </a:xfrm>
          <a:prstGeom xmlns:a="http://schemas.openxmlformats.org/drawingml/2006/main" prst="ellipse">
            <a:avLst/>
          </a:prstGeom>
          <a:solidFill xmlns:a="http://schemas.openxmlformats.org/drawingml/2006/main">
            <a:srgbClr val="2E4374"/>
          </a:solidFill>
        </p:spPr>
      </p:sp>
      <p:sp>
        <p:nvSpPr>
          <p:cNvPr id="16" name="Text 14">
            <a:extLst xmlns:a="http://schemas.openxmlformats.org/drawingml/2006/main">
              <a:ext uri="{FF2B5EF4-FFF2-40B4-BE49-F238E27FC236}">
                <a16:creationId xmlns:a16="http://schemas.microsoft.com/office/drawing/2014/main" id="{4E6151CB-7E41-43CF-932D-8CC1E03D2955}"/>
              </a:ext>
            </a:extLst>
          </p:cNvPr>
          <p:cNvSpPr>
            <a:spLocks xmlns:a="http://schemas.openxmlformats.org/drawingml/2006/main" noGrp="1"/>
          </p:cNvSpPr>
          <p:nvPr/>
        </p:nvSpPr>
        <p:spPr>
          <a:xfrm xmlns:a="http://schemas.openxmlformats.org/drawingml/2006/main">
            <a:off x="8915400" y="274320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4</a:t>
            </a:r>
            <a:endParaRPr sz="1300"/>
          </a:p>
        </p:txBody>
      </p:sp>
      <p:sp>
        <p:nvSpPr>
          <p:cNvPr id="17" name="Text 15">
            <a:extLst xmlns:a="http://schemas.openxmlformats.org/drawingml/2006/main">
              <a:ext uri="{FF2B5EF4-FFF2-40B4-BE49-F238E27FC236}">
                <a16:creationId xmlns:a16="http://schemas.microsoft.com/office/drawing/2014/main" id="{BD10A16E-1CC1-4324-8392-570F879EFDF7}"/>
              </a:ext>
            </a:extLst>
          </p:cNvPr>
          <p:cNvSpPr>
            <a:spLocks xmlns:a="http://schemas.openxmlformats.org/drawingml/2006/main" noGrp="1"/>
          </p:cNvSpPr>
          <p:nvPr/>
        </p:nvSpPr>
        <p:spPr>
          <a:xfrm xmlns:a="http://schemas.openxmlformats.org/drawingml/2006/main">
            <a:off x="8915400" y="320040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Develop an AI demand-forecasting component</a:t>
            </a:r>
            <a:endParaRPr sz="1250"/>
          </a:p>
        </p:txBody>
      </p:sp>
      <p:sp>
        <p:nvSpPr>
          <p:cNvPr id="18" name="Shape 16">
            <a:extLst xmlns:a="http://schemas.openxmlformats.org/drawingml/2006/main">
              <a:ext uri="{FF2B5EF4-FFF2-40B4-BE49-F238E27FC236}">
                <a16:creationId xmlns:a16="http://schemas.microsoft.com/office/drawing/2014/main" id="{A821ED4C-BFD8-4148-A7C8-5928FAA5D788}"/>
              </a:ext>
            </a:extLst>
          </p:cNvPr>
          <p:cNvSpPr>
            <a:spLocks xmlns:a="http://schemas.openxmlformats.org/drawingml/2006/main" noGrp="1"/>
          </p:cNvSpPr>
          <p:nvPr/>
        </p:nvSpPr>
        <p:spPr>
          <a:xfrm xmlns:a="http://schemas.openxmlformats.org/drawingml/2006/main">
            <a:off x="548640" y="4434840"/>
            <a:ext cx="384048" cy="384048"/>
          </a:xfrm>
          <a:prstGeom xmlns:a="http://schemas.openxmlformats.org/drawingml/2006/main" prst="ellipse">
            <a:avLst/>
          </a:prstGeom>
          <a:solidFill xmlns:a="http://schemas.openxmlformats.org/drawingml/2006/main">
            <a:srgbClr val="2E4374"/>
          </a:solidFill>
        </p:spPr>
      </p:sp>
      <p:sp>
        <p:nvSpPr>
          <p:cNvPr id="19" name="Text 17">
            <a:extLst xmlns:a="http://schemas.openxmlformats.org/drawingml/2006/main">
              <a:ext uri="{FF2B5EF4-FFF2-40B4-BE49-F238E27FC236}">
                <a16:creationId xmlns:a16="http://schemas.microsoft.com/office/drawing/2014/main" id="{8EDFDE59-BDFE-41FB-B425-A6151D104F31}"/>
              </a:ext>
            </a:extLst>
          </p:cNvPr>
          <p:cNvSpPr>
            <a:spLocks xmlns:a="http://schemas.openxmlformats.org/drawingml/2006/main" noGrp="1"/>
          </p:cNvSpPr>
          <p:nvPr/>
        </p:nvSpPr>
        <p:spPr>
          <a:xfrm xmlns:a="http://schemas.openxmlformats.org/drawingml/2006/main">
            <a:off x="54864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5</a:t>
            </a:r>
            <a:endParaRPr sz="1300"/>
          </a:p>
        </p:txBody>
      </p:sp>
      <p:sp>
        <p:nvSpPr>
          <p:cNvPr id="20" name="Text 18">
            <a:extLst xmlns:a="http://schemas.openxmlformats.org/drawingml/2006/main">
              <a:ext uri="{FF2B5EF4-FFF2-40B4-BE49-F238E27FC236}">
                <a16:creationId xmlns:a16="http://schemas.microsoft.com/office/drawing/2014/main" id="{E8D5BBF3-6598-4A1C-9F14-35AF75562FE2}"/>
              </a:ext>
            </a:extLst>
          </p:cNvPr>
          <p:cNvSpPr>
            <a:spLocks xmlns:a="http://schemas.openxmlformats.org/drawingml/2006/main" noGrp="1"/>
          </p:cNvSpPr>
          <p:nvPr/>
        </p:nvSpPr>
        <p:spPr>
          <a:xfrm xmlns:a="http://schemas.openxmlformats.org/drawingml/2006/main">
            <a:off x="54864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Build shortage detection and donor-notification (SMS/email)</a:t>
            </a:r>
            <a:endParaRPr sz="1250"/>
          </a:p>
        </p:txBody>
      </p:sp>
      <p:sp>
        <p:nvSpPr>
          <p:cNvPr id="21" name="Shape 19">
            <a:extLst xmlns:a="http://schemas.openxmlformats.org/drawingml/2006/main">
              <a:ext uri="{FF2B5EF4-FFF2-40B4-BE49-F238E27FC236}">
                <a16:creationId xmlns:a16="http://schemas.microsoft.com/office/drawing/2014/main" id="{9A8AA861-FBD7-46ED-9E90-3DCBAFD81D69}"/>
              </a:ext>
            </a:extLst>
          </p:cNvPr>
          <p:cNvSpPr>
            <a:spLocks xmlns:a="http://schemas.openxmlformats.org/drawingml/2006/main" noGrp="1"/>
          </p:cNvSpPr>
          <p:nvPr/>
        </p:nvSpPr>
        <p:spPr>
          <a:xfrm xmlns:a="http://schemas.openxmlformats.org/drawingml/2006/main">
            <a:off x="3337560" y="4434840"/>
            <a:ext cx="384048" cy="384048"/>
          </a:xfrm>
          <a:prstGeom xmlns:a="http://schemas.openxmlformats.org/drawingml/2006/main" prst="ellipse">
            <a:avLst/>
          </a:prstGeom>
          <a:solidFill xmlns:a="http://schemas.openxmlformats.org/drawingml/2006/main">
            <a:srgbClr val="2E4374"/>
          </a:solidFill>
        </p:spPr>
      </p:sp>
      <p:sp>
        <p:nvSpPr>
          <p:cNvPr id="22" name="Text 20">
            <a:extLst xmlns:a="http://schemas.openxmlformats.org/drawingml/2006/main">
              <a:ext uri="{FF2B5EF4-FFF2-40B4-BE49-F238E27FC236}">
                <a16:creationId xmlns:a16="http://schemas.microsoft.com/office/drawing/2014/main" id="{C2CEEB56-8985-42EB-904B-11017B363E73}"/>
              </a:ext>
            </a:extLst>
          </p:cNvPr>
          <p:cNvSpPr>
            <a:spLocks xmlns:a="http://schemas.openxmlformats.org/drawingml/2006/main" noGrp="1"/>
          </p:cNvSpPr>
          <p:nvPr/>
        </p:nvSpPr>
        <p:spPr>
          <a:xfrm xmlns:a="http://schemas.openxmlformats.org/drawingml/2006/main">
            <a:off x="333756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6</a:t>
            </a:r>
            <a:endParaRPr sz="1300"/>
          </a:p>
        </p:txBody>
      </p:sp>
      <p:sp>
        <p:nvSpPr>
          <p:cNvPr id="23" name="Text 21">
            <a:extLst xmlns:a="http://schemas.openxmlformats.org/drawingml/2006/main">
              <a:ext uri="{FF2B5EF4-FFF2-40B4-BE49-F238E27FC236}">
                <a16:creationId xmlns:a16="http://schemas.microsoft.com/office/drawing/2014/main" id="{BE7B591C-97E4-43AA-A31C-D3EB994B303C}"/>
              </a:ext>
            </a:extLst>
          </p:cNvPr>
          <p:cNvSpPr>
            <a:spLocks xmlns:a="http://schemas.openxmlformats.org/drawingml/2006/main" noGrp="1"/>
          </p:cNvSpPr>
          <p:nvPr/>
        </p:nvSpPr>
        <p:spPr>
          <a:xfrm xmlns:a="http://schemas.openxmlformats.org/drawingml/2006/main">
            <a:off x="333756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Provide real-time dashboards and reports</a:t>
            </a:r>
            <a:endParaRPr sz="1250"/>
          </a:p>
        </p:txBody>
      </p:sp>
      <p:sp>
        <p:nvSpPr>
          <p:cNvPr id="24" name="Shape 22">
            <a:extLst xmlns:a="http://schemas.openxmlformats.org/drawingml/2006/main">
              <a:ext uri="{FF2B5EF4-FFF2-40B4-BE49-F238E27FC236}">
                <a16:creationId xmlns:a16="http://schemas.microsoft.com/office/drawing/2014/main" id="{0C21815E-C1EE-4D2F-B0BA-119DE347AECB}"/>
              </a:ext>
            </a:extLst>
          </p:cNvPr>
          <p:cNvSpPr>
            <a:spLocks xmlns:a="http://schemas.openxmlformats.org/drawingml/2006/main" noGrp="1"/>
          </p:cNvSpPr>
          <p:nvPr/>
        </p:nvSpPr>
        <p:spPr>
          <a:xfrm xmlns:a="http://schemas.openxmlformats.org/drawingml/2006/main">
            <a:off x="6126480" y="4434840"/>
            <a:ext cx="384048" cy="384048"/>
          </a:xfrm>
          <a:prstGeom xmlns:a="http://schemas.openxmlformats.org/drawingml/2006/main" prst="ellipse">
            <a:avLst/>
          </a:prstGeom>
          <a:solidFill xmlns:a="http://schemas.openxmlformats.org/drawingml/2006/main">
            <a:srgbClr val="2E4374"/>
          </a:solidFill>
        </p:spPr>
      </p:sp>
      <p:sp>
        <p:nvSpPr>
          <p:cNvPr id="25" name="Text 23">
            <a:extLst xmlns:a="http://schemas.openxmlformats.org/drawingml/2006/main">
              <a:ext uri="{FF2B5EF4-FFF2-40B4-BE49-F238E27FC236}">
                <a16:creationId xmlns:a16="http://schemas.microsoft.com/office/drawing/2014/main" id="{7E8A7BC1-71CF-4A8F-B838-1B5F07505969}"/>
              </a:ext>
            </a:extLst>
          </p:cNvPr>
          <p:cNvSpPr>
            <a:spLocks xmlns:a="http://schemas.openxmlformats.org/drawingml/2006/main" noGrp="1"/>
          </p:cNvSpPr>
          <p:nvPr/>
        </p:nvSpPr>
        <p:spPr>
          <a:xfrm xmlns:a="http://schemas.openxmlformats.org/drawingml/2006/main">
            <a:off x="612648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7</a:t>
            </a:r>
            <a:endParaRPr sz="1300"/>
          </a:p>
        </p:txBody>
      </p:sp>
      <p:sp>
        <p:nvSpPr>
          <p:cNvPr id="26" name="Text 24">
            <a:extLst xmlns:a="http://schemas.openxmlformats.org/drawingml/2006/main">
              <a:ext uri="{FF2B5EF4-FFF2-40B4-BE49-F238E27FC236}">
                <a16:creationId xmlns:a16="http://schemas.microsoft.com/office/drawing/2014/main" id="{AE6CFAF3-373A-4FF9-B833-4D968972E91E}"/>
              </a:ext>
            </a:extLst>
          </p:cNvPr>
          <p:cNvSpPr>
            <a:spLocks xmlns:a="http://schemas.openxmlformats.org/drawingml/2006/main" noGrp="1"/>
          </p:cNvSpPr>
          <p:nvPr/>
        </p:nvSpPr>
        <p:spPr>
          <a:xfrm xmlns:a="http://schemas.openxmlformats.org/drawingml/2006/main">
            <a:off x="612648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Implement role-based access control and audit logging</a:t>
            </a:r>
            <a:endParaRPr sz="1250"/>
          </a:p>
        </p:txBody>
      </p:sp>
      <p:sp>
        <p:nvSpPr>
          <p:cNvPr id="27" name="Shape 25">
            <a:extLst xmlns:a="http://schemas.openxmlformats.org/drawingml/2006/main">
              <a:ext uri="{FF2B5EF4-FFF2-40B4-BE49-F238E27FC236}">
                <a16:creationId xmlns:a16="http://schemas.microsoft.com/office/drawing/2014/main" id="{3DCA1D8A-FC70-450E-888D-877B2D5EDAC1}"/>
              </a:ext>
            </a:extLst>
          </p:cNvPr>
          <p:cNvSpPr>
            <a:spLocks xmlns:a="http://schemas.openxmlformats.org/drawingml/2006/main" noGrp="1"/>
          </p:cNvSpPr>
          <p:nvPr/>
        </p:nvSpPr>
        <p:spPr>
          <a:xfrm xmlns:a="http://schemas.openxmlformats.org/drawingml/2006/main">
            <a:off x="8915400" y="4434840"/>
            <a:ext cx="384048" cy="384048"/>
          </a:xfrm>
          <a:prstGeom xmlns:a="http://schemas.openxmlformats.org/drawingml/2006/main" prst="ellipse">
            <a:avLst/>
          </a:prstGeom>
          <a:solidFill xmlns:a="http://schemas.openxmlformats.org/drawingml/2006/main">
            <a:srgbClr val="2E4374"/>
          </a:solidFill>
        </p:spPr>
      </p:sp>
      <p:sp>
        <p:nvSpPr>
          <p:cNvPr id="28" name="Text 26">
            <a:extLst xmlns:a="http://schemas.openxmlformats.org/drawingml/2006/main">
              <a:ext uri="{FF2B5EF4-FFF2-40B4-BE49-F238E27FC236}">
                <a16:creationId xmlns:a16="http://schemas.microsoft.com/office/drawing/2014/main" id="{5102D1D8-D432-4E71-8204-F9F46B595F5B}"/>
              </a:ext>
            </a:extLst>
          </p:cNvPr>
          <p:cNvSpPr>
            <a:spLocks xmlns:a="http://schemas.openxmlformats.org/drawingml/2006/main" noGrp="1"/>
          </p:cNvSpPr>
          <p:nvPr/>
        </p:nvSpPr>
        <p:spPr>
          <a:xfrm xmlns:a="http://schemas.openxmlformats.org/drawingml/2006/main">
            <a:off x="8915400" y="44348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8</a:t>
            </a:r>
            <a:endParaRPr sz="1300"/>
          </a:p>
        </p:txBody>
      </p:sp>
      <p:sp>
        <p:nvSpPr>
          <p:cNvPr id="29" name="Text 27">
            <a:extLst xmlns:a="http://schemas.openxmlformats.org/drawingml/2006/main">
              <a:ext uri="{FF2B5EF4-FFF2-40B4-BE49-F238E27FC236}">
                <a16:creationId xmlns:a16="http://schemas.microsoft.com/office/drawing/2014/main" id="{EF8EDA20-85B9-46FF-8403-2ADBD4B4288A}"/>
              </a:ext>
            </a:extLst>
          </p:cNvPr>
          <p:cNvSpPr>
            <a:spLocks xmlns:a="http://schemas.openxmlformats.org/drawingml/2006/main" noGrp="1"/>
          </p:cNvSpPr>
          <p:nvPr/>
        </p:nvSpPr>
        <p:spPr>
          <a:xfrm xmlns:a="http://schemas.openxmlformats.org/drawingml/2006/main">
            <a:off x="8915400" y="4892040"/>
            <a:ext cx="260604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5000"/>
              </a:lnSpc>
              <a:buNone/>
            </a:pPr>
            <a:r>
              <a:rPr sz="1250">
                <a:solidFill>
                  <a:srgbClr val="1A1A1A"/>
                </a:solidFill>
                <a:latin typeface="Calibri"/>
                <a:ea typeface="Calibri"/>
                <a:cs typeface="Calibri"/>
              </a:rPr>
              <a:t>Test and evaluate the system end-to-end</a:t>
            </a:r>
            <a:endParaRPr sz="1250"/>
          </a:p>
        </p:txBody>
      </p:sp>
      <p:sp>
        <p:nvSpPr>
          <p:cNvPr id="30" name="Text 28">
            <a:extLst xmlns:a="http://schemas.openxmlformats.org/drawingml/2006/main">
              <a:ext uri="{FF2B5EF4-FFF2-40B4-BE49-F238E27FC236}">
                <a16:creationId xmlns:a16="http://schemas.microsoft.com/office/drawing/2014/main" id="{1FB851CF-D16E-4E41-93ED-B0609B7BB771}"/>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4</a:t>
            </a:r>
            <a:endParaRPr sz="1000"/>
          </a:p>
        </p:txBody>
      </p:sp>
    </p:spTree>
    <p:extLst>
      <p:ext uri="{BB962C8B-B14F-4D97-AF65-F5344CB8AC3E}">
        <p14:creationId xmlns:p14="http://schemas.microsoft.com/office/powerpoint/2010/main" val="6968902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44CCCA9-70AF-4702-9225-A3B0B495B4D5}"/>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7D25CEFA-15C3-4356-A96D-7AE64A71BB48}"/>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Current application architecture</a:t>
            </a:r>
          </a:p>
        </p:txBody>
      </p:sp>
      <p:sp>
        <p:nvSpPr>
          <p:cNvPr id="3" name="">
            <a:extLst xmlns:a="http://schemas.openxmlformats.org/drawingml/2006/main">
              <a:ext uri="{FF2B5EF4-FFF2-40B4-BE49-F238E27FC236}">
                <a16:creationId xmlns:a16="http://schemas.microsoft.com/office/drawing/2014/main" id="{7D4C405D-5AF6-433D-9989-F83EA6F38B7A}"/>
              </a:ext>
            </a:extLst>
          </p:cNvPr>
          <p:cNvSpPr>
            <a:spLocks xmlns:a="http://schemas.openxmlformats.org/drawingml/2006/main" noGrp="1"/>
          </p:cNvSpPr>
          <p:nvPr/>
        </p:nvSpPr>
        <p:spPr>
          <a:xfrm xmlns:a="http://schemas.openxmlformats.org/drawingml/2006/main">
            <a:off x="609600" y="1952625"/>
            <a:ext cx="2381250" cy="1428750"/>
          </a:xfrm>
          <a:prstGeom xmlns:a="http://schemas.openxmlformats.org/drawingml/2006/main" prst="roundRect">
            <a:avLst>
              <a:gd name="adj" fmla="val 8000"/>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4E14831F-51E6-4F7F-9A16-E85212A2035E}"/>
              </a:ext>
            </a:extLst>
          </p:cNvPr>
          <p:cNvSpPr>
            <a:spLocks xmlns:a="http://schemas.openxmlformats.org/drawingml/2006/main" noGrp="1"/>
          </p:cNvSpPr>
          <p:nvPr/>
        </p:nvSpPr>
        <p:spPr>
          <a:xfrm xmlns:a="http://schemas.openxmlformats.org/drawingml/2006/main">
            <a:off x="819150" y="2152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8A1F2D"/>
                </a:solidFill>
                <a:latin typeface="Calibri"/>
                <a:ea typeface="Calibri"/>
                <a:cs typeface="Calibri"/>
              </a:defRPr>
            </a:pPr>
            <a:r>
              <a:rPr sz="1575" b="1" i="0">
                <a:solidFill>
                  <a:srgbClr val="8A1F2D"/>
                </a:solidFill>
                <a:latin typeface="Calibri"/>
                <a:ea typeface="Calibri"/>
                <a:cs typeface="Calibri"/>
              </a:rPr>
              <a:t>Web application</a:t>
            </a:r>
          </a:p>
        </p:txBody>
      </p:sp>
      <p:sp>
        <p:nvSpPr>
          <p:cNvPr id="5" name="">
            <a:extLst xmlns:a="http://schemas.openxmlformats.org/drawingml/2006/main">
              <a:ext uri="{FF2B5EF4-FFF2-40B4-BE49-F238E27FC236}">
                <a16:creationId xmlns:a16="http://schemas.microsoft.com/office/drawing/2014/main" id="{A1E8E7BE-E2F4-43AF-9AA9-28007F1C7AA2}"/>
              </a:ext>
            </a:extLst>
          </p:cNvPr>
          <p:cNvSpPr>
            <a:spLocks xmlns:a="http://schemas.openxmlformats.org/drawingml/2006/main" noGrp="1"/>
          </p:cNvSpPr>
          <p:nvPr/>
        </p:nvSpPr>
        <p:spPr>
          <a:xfrm xmlns:a="http://schemas.openxmlformats.org/drawingml/2006/main">
            <a:off x="819150" y="2571750"/>
            <a:ext cx="195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922"/>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React Router 7 and React 19</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Tailwind CSS presentation</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Session-aware API client</a:t>
            </a:r>
          </a:p>
        </p:txBody>
      </p:sp>
      <p:sp>
        <p:nvSpPr>
          <p:cNvPr id="6" name="">
            <a:extLst xmlns:a="http://schemas.openxmlformats.org/drawingml/2006/main">
              <a:ext uri="{FF2B5EF4-FFF2-40B4-BE49-F238E27FC236}">
                <a16:creationId xmlns:a16="http://schemas.microsoft.com/office/drawing/2014/main" id="{CA604A15-24C2-4554-B248-F613238585AB}"/>
              </a:ext>
            </a:extLst>
          </p:cNvPr>
          <p:cNvSpPr>
            <a:spLocks xmlns:a="http://schemas.openxmlformats.org/drawingml/2006/main" noGrp="1"/>
          </p:cNvSpPr>
          <p:nvPr/>
        </p:nvSpPr>
        <p:spPr>
          <a:xfrm xmlns:a="http://schemas.openxmlformats.org/drawingml/2006/main">
            <a:off x="3857625" y="1714500"/>
            <a:ext cx="3810000" cy="1905000"/>
          </a:xfrm>
          <a:prstGeom xmlns:a="http://schemas.openxmlformats.org/drawingml/2006/main" prst="roundRect">
            <a:avLst>
              <a:gd name="adj" fmla="val 6000"/>
            </a:avLst>
          </a:prstGeom>
          <a:solidFill xmlns:a="http://schemas.openxmlformats.org/drawingml/2006/main">
            <a:srgbClr val="EEF2F8"/>
          </a:solidFill>
          <a:ln xmlns:a="http://schemas.openxmlformats.org/drawingml/2006/main" w="17145">
            <a:solidFill>
              <a:srgbClr val="253E73"/>
            </a:solidFill>
            <a:prstDash val="solid"/>
          </a:ln>
        </p:spPr>
      </p:sp>
      <p:sp>
        <p:nvSpPr>
          <p:cNvPr id="7" name="">
            <a:extLst xmlns:a="http://schemas.openxmlformats.org/drawingml/2006/main">
              <a:ext uri="{FF2B5EF4-FFF2-40B4-BE49-F238E27FC236}">
                <a16:creationId xmlns:a16="http://schemas.microsoft.com/office/drawing/2014/main" id="{7F42AC0E-880F-47D1-B267-F37FCF5A6261}"/>
              </a:ext>
            </a:extLst>
          </p:cNvPr>
          <p:cNvSpPr>
            <a:spLocks xmlns:a="http://schemas.openxmlformats.org/drawingml/2006/main" noGrp="1"/>
          </p:cNvSpPr>
          <p:nvPr/>
        </p:nvSpPr>
        <p:spPr>
          <a:xfrm xmlns:a="http://schemas.openxmlformats.org/drawingml/2006/main">
            <a:off x="4105275" y="1952625"/>
            <a:ext cx="331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253E73"/>
                </a:solidFill>
                <a:latin typeface="Calibri"/>
                <a:ea typeface="Calibri"/>
                <a:cs typeface="Calibri"/>
              </a:defRPr>
            </a:pPr>
            <a:r>
              <a:rPr sz="1800" b="1" i="0">
                <a:solidFill>
                  <a:srgbClr val="253E73"/>
                </a:solidFill>
                <a:latin typeface="Calibri"/>
                <a:ea typeface="Calibri"/>
                <a:cs typeface="Calibri"/>
              </a:rPr>
              <a:t>Hono API on Bun</a:t>
            </a:r>
          </a:p>
        </p:txBody>
      </p:sp>
      <p:sp>
        <p:nvSpPr>
          <p:cNvPr id="8" name="">
            <a:extLst xmlns:a="http://schemas.openxmlformats.org/drawingml/2006/main">
              <a:ext uri="{FF2B5EF4-FFF2-40B4-BE49-F238E27FC236}">
                <a16:creationId xmlns:a16="http://schemas.microsoft.com/office/drawing/2014/main" id="{00CBAE4E-3035-4877-9B3F-6C1FA8FF518D}"/>
              </a:ext>
            </a:extLst>
          </p:cNvPr>
          <p:cNvSpPr>
            <a:spLocks xmlns:a="http://schemas.openxmlformats.org/drawingml/2006/main" noGrp="1"/>
          </p:cNvSpPr>
          <p:nvPr/>
        </p:nvSpPr>
        <p:spPr>
          <a:xfrm xmlns:a="http://schemas.openxmlformats.org/drawingml/2006/main">
            <a:off x="4181475" y="24574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039"/>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Authentication and HTTP-only sessions</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Permission checks and facility scope</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Business rules, Drizzle queries, audit records</a:t>
            </a:r>
          </a:p>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AI and notification orchestration</a:t>
            </a:r>
          </a:p>
        </p:txBody>
      </p:sp>
      <p:sp>
        <p:nvSpPr>
          <p:cNvPr id="9" name="">
            <a:extLst xmlns:a="http://schemas.openxmlformats.org/drawingml/2006/main">
              <a:ext uri="{FF2B5EF4-FFF2-40B4-BE49-F238E27FC236}">
                <a16:creationId xmlns:a16="http://schemas.microsoft.com/office/drawing/2014/main" id="{724DF6E8-ABCD-4ED5-8DA6-183B4E95942F}"/>
              </a:ext>
            </a:extLst>
          </p:cNvPr>
          <p:cNvSpPr>
            <a:spLocks xmlns:a="http://schemas.openxmlformats.org/drawingml/2006/main" noGrp="1"/>
          </p:cNvSpPr>
          <p:nvPr/>
        </p:nvSpPr>
        <p:spPr>
          <a:xfrm xmlns:a="http://schemas.openxmlformats.org/drawingml/2006/main">
            <a:off x="8572500" y="1857375"/>
            <a:ext cx="2857500" cy="1238250"/>
          </a:xfrm>
          <a:prstGeom xmlns:a="http://schemas.openxmlformats.org/drawingml/2006/main" prst="roundRect">
            <a:avLst>
              <a:gd name="adj" fmla="val 9231"/>
            </a:avLst>
          </a:prstGeom>
          <a:solidFill xmlns:a="http://schemas.openxmlformats.org/drawingml/2006/main">
            <a:srgbClr val="ECF6F0"/>
          </a:solidFill>
          <a:ln xmlns:a="http://schemas.openxmlformats.org/drawingml/2006/main" w="14288">
            <a:solidFill>
              <a:srgbClr val="368A58"/>
            </a:solidFill>
            <a:prstDash val="solid"/>
          </a:ln>
        </p:spPr>
      </p:sp>
      <p:sp>
        <p:nvSpPr>
          <p:cNvPr id="10" name="">
            <a:extLst xmlns:a="http://schemas.openxmlformats.org/drawingml/2006/main">
              <a:ext uri="{FF2B5EF4-FFF2-40B4-BE49-F238E27FC236}">
                <a16:creationId xmlns:a16="http://schemas.microsoft.com/office/drawing/2014/main" id="{6D2592E6-6B29-490D-8D1D-1C9ADD18799F}"/>
              </a:ext>
            </a:extLst>
          </p:cNvPr>
          <p:cNvSpPr>
            <a:spLocks xmlns:a="http://schemas.openxmlformats.org/drawingml/2006/main" noGrp="1"/>
          </p:cNvSpPr>
          <p:nvPr/>
        </p:nvSpPr>
        <p:spPr>
          <a:xfrm xmlns:a="http://schemas.openxmlformats.org/drawingml/2006/main">
            <a:off x="8810625" y="20859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i="0">
                <a:solidFill>
                  <a:srgbClr val="368A58"/>
                </a:solidFill>
                <a:latin typeface="Calibri"/>
                <a:ea typeface="Calibri"/>
                <a:cs typeface="Calibri"/>
              </a:defRPr>
            </a:pPr>
            <a:r>
              <a:rPr sz="1650" b="1" i="0">
                <a:solidFill>
                  <a:srgbClr val="368A58"/>
                </a:solidFill>
                <a:latin typeface="Calibri"/>
                <a:ea typeface="Calibri"/>
                <a:cs typeface="Calibri"/>
              </a:rPr>
              <a:t>MariaDB 11</a:t>
            </a:r>
          </a:p>
        </p:txBody>
      </p:sp>
      <p:sp>
        <p:nvSpPr>
          <p:cNvPr id="11" name="">
            <a:extLst xmlns:a="http://schemas.openxmlformats.org/drawingml/2006/main">
              <a:ext uri="{FF2B5EF4-FFF2-40B4-BE49-F238E27FC236}">
                <a16:creationId xmlns:a16="http://schemas.microsoft.com/office/drawing/2014/main" id="{72EEA0A6-37BD-4DB2-8808-C4ECDA397E0D}"/>
              </a:ext>
            </a:extLst>
          </p:cNvPr>
          <p:cNvSpPr>
            <a:spLocks xmlns:a="http://schemas.openxmlformats.org/drawingml/2006/main" noGrp="1"/>
          </p:cNvSpPr>
          <p:nvPr/>
        </p:nvSpPr>
        <p:spPr>
          <a:xfrm xmlns:a="http://schemas.openxmlformats.org/drawingml/2006/main">
            <a:off x="8810625" y="25431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21 relational tables</a:t>
            </a:r>
          </a:p>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Foreign keys and indexed lookups</a:t>
            </a:r>
          </a:p>
        </p:txBody>
      </p:sp>
      <p:sp>
        <p:nvSpPr>
          <p:cNvPr id="12" name="">
            <a:extLst xmlns:a="http://schemas.openxmlformats.org/drawingml/2006/main">
              <a:ext uri="{FF2B5EF4-FFF2-40B4-BE49-F238E27FC236}">
                <a16:creationId xmlns:a16="http://schemas.microsoft.com/office/drawing/2014/main" id="{EA4AFB63-24C4-44B2-BDE1-E0E2DA9667BE}"/>
              </a:ext>
            </a:extLst>
          </p:cNvPr>
          <p:cNvSpPr>
            <a:spLocks xmlns:a="http://schemas.openxmlformats.org/drawingml/2006/main" noGrp="1"/>
          </p:cNvSpPr>
          <p:nvPr/>
        </p:nvSpPr>
        <p:spPr>
          <a:xfrm xmlns:a="http://schemas.openxmlformats.org/drawingml/2006/main">
            <a:off x="3857625" y="4248150"/>
            <a:ext cx="2857500" cy="1143000"/>
          </a:xfrm>
          <a:prstGeom xmlns:a="http://schemas.openxmlformats.org/drawingml/2006/main" prst="roundRect">
            <a:avLst>
              <a:gd name="adj" fmla="val 10000"/>
            </a:avLst>
          </a:prstGeom>
          <a:solidFill xmlns:a="http://schemas.openxmlformats.org/drawingml/2006/main">
            <a:srgbClr val="FBF5E6"/>
          </a:solidFill>
          <a:ln xmlns:a="http://schemas.openxmlformats.org/drawingml/2006/main" w="14288">
            <a:solidFill>
              <a:srgbClr val="C79011"/>
            </a:solidFill>
            <a:prstDash val="solid"/>
          </a:ln>
        </p:spPr>
      </p:sp>
      <p:sp>
        <p:nvSpPr>
          <p:cNvPr id="13" name="">
            <a:extLst xmlns:a="http://schemas.openxmlformats.org/drawingml/2006/main">
              <a:ext uri="{FF2B5EF4-FFF2-40B4-BE49-F238E27FC236}">
                <a16:creationId xmlns:a16="http://schemas.microsoft.com/office/drawing/2014/main" id="{E7285E87-3913-4C6E-8DE9-5C1683A7E23B}"/>
              </a:ext>
            </a:extLst>
          </p:cNvPr>
          <p:cNvSpPr>
            <a:spLocks xmlns:a="http://schemas.openxmlformats.org/drawingml/2006/main" noGrp="1"/>
          </p:cNvSpPr>
          <p:nvPr/>
        </p:nvSpPr>
        <p:spPr>
          <a:xfrm xmlns:a="http://schemas.openxmlformats.org/drawingml/2006/main">
            <a:off x="4076700" y="4438650"/>
            <a:ext cx="2419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9A6E00"/>
                </a:solidFill>
                <a:latin typeface="Calibri"/>
                <a:ea typeface="Calibri"/>
                <a:cs typeface="Calibri"/>
              </a:defRPr>
            </a:pPr>
            <a:r>
              <a:rPr sz="1500" b="1" i="0">
                <a:solidFill>
                  <a:srgbClr val="9A6E00"/>
                </a:solidFill>
                <a:latin typeface="Calibri"/>
                <a:ea typeface="Calibri"/>
                <a:cs typeface="Calibri"/>
              </a:rPr>
              <a:t>FastAPI AI service</a:t>
            </a:r>
          </a:p>
        </p:txBody>
      </p:sp>
      <p:sp>
        <p:nvSpPr>
          <p:cNvPr id="14" name="">
            <a:extLst xmlns:a="http://schemas.openxmlformats.org/drawingml/2006/main">
              <a:ext uri="{FF2B5EF4-FFF2-40B4-BE49-F238E27FC236}">
                <a16:creationId xmlns:a16="http://schemas.microsoft.com/office/drawing/2014/main" id="{C660FDE9-6344-4819-BDB8-335B7D457EC5}"/>
              </a:ext>
            </a:extLst>
          </p:cNvPr>
          <p:cNvSpPr>
            <a:spLocks xmlns:a="http://schemas.openxmlformats.org/drawingml/2006/main" noGrp="1"/>
          </p:cNvSpPr>
          <p:nvPr/>
        </p:nvSpPr>
        <p:spPr>
          <a:xfrm xmlns:a="http://schemas.openxmlformats.org/drawingml/2006/main">
            <a:off x="4076700" y="4848225"/>
            <a:ext cx="2419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Training, evaluation and forecast generation</a:t>
            </a:r>
          </a:p>
        </p:txBody>
      </p:sp>
      <p:sp>
        <p:nvSpPr>
          <p:cNvPr id="15" name="">
            <a:extLst xmlns:a="http://schemas.openxmlformats.org/drawingml/2006/main">
              <a:ext uri="{FF2B5EF4-FFF2-40B4-BE49-F238E27FC236}">
                <a16:creationId xmlns:a16="http://schemas.microsoft.com/office/drawing/2014/main" id="{3FEE05A1-731E-480C-AC8A-6092552AE549}"/>
              </a:ext>
            </a:extLst>
          </p:cNvPr>
          <p:cNvSpPr>
            <a:spLocks xmlns:a="http://schemas.openxmlformats.org/drawingml/2006/main" noGrp="1"/>
          </p:cNvSpPr>
          <p:nvPr/>
        </p:nvSpPr>
        <p:spPr>
          <a:xfrm xmlns:a="http://schemas.openxmlformats.org/drawingml/2006/main">
            <a:off x="8572500" y="4248150"/>
            <a:ext cx="2857500" cy="1143000"/>
          </a:xfrm>
          <a:prstGeom xmlns:a="http://schemas.openxmlformats.org/drawingml/2006/main" prst="roundRect">
            <a:avLst>
              <a:gd name="adj" fmla="val 10000"/>
            </a:avLst>
          </a:prstGeom>
          <a:solidFill xmlns:a="http://schemas.openxmlformats.org/drawingml/2006/main">
            <a:srgbClr val="F5F6F8"/>
          </a:solidFill>
          <a:ln xmlns:a="http://schemas.openxmlformats.org/drawingml/2006/main" w="11906">
            <a:solidFill>
              <a:srgbClr val="7D838C"/>
            </a:solidFill>
            <a:prstDash val="solid"/>
          </a:ln>
        </p:spPr>
      </p:sp>
      <p:sp>
        <p:nvSpPr>
          <p:cNvPr id="16" name="">
            <a:extLst xmlns:a="http://schemas.openxmlformats.org/drawingml/2006/main">
              <a:ext uri="{FF2B5EF4-FFF2-40B4-BE49-F238E27FC236}">
                <a16:creationId xmlns:a16="http://schemas.microsoft.com/office/drawing/2014/main" id="{20E863BF-525E-4E10-961F-DEE4A1DEDD7F}"/>
              </a:ext>
            </a:extLst>
          </p:cNvPr>
          <p:cNvSpPr>
            <a:spLocks xmlns:a="http://schemas.openxmlformats.org/drawingml/2006/main" noGrp="1"/>
          </p:cNvSpPr>
          <p:nvPr/>
        </p:nvSpPr>
        <p:spPr>
          <a:xfrm xmlns:a="http://schemas.openxmlformats.org/drawingml/2006/main">
            <a:off x="8801100" y="4438650"/>
            <a:ext cx="2400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555B64"/>
                </a:solidFill>
                <a:latin typeface="Calibri"/>
                <a:ea typeface="Calibri"/>
                <a:cs typeface="Calibri"/>
              </a:defRPr>
            </a:pPr>
            <a:r>
              <a:rPr sz="1500" b="1" i="0">
                <a:solidFill>
                  <a:srgbClr val="555B64"/>
                </a:solidFill>
                <a:latin typeface="Calibri"/>
                <a:ea typeface="Calibri"/>
                <a:cs typeface="Calibri"/>
              </a:rPr>
              <a:t>Messaging providers</a:t>
            </a:r>
          </a:p>
        </p:txBody>
      </p:sp>
      <p:sp>
        <p:nvSpPr>
          <p:cNvPr id="17" name="">
            <a:extLst xmlns:a="http://schemas.openxmlformats.org/drawingml/2006/main">
              <a:ext uri="{FF2B5EF4-FFF2-40B4-BE49-F238E27FC236}">
                <a16:creationId xmlns:a16="http://schemas.microsoft.com/office/drawing/2014/main" id="{CFBA9169-2C96-4743-85FC-53627102E76D}"/>
              </a:ext>
            </a:extLst>
          </p:cNvPr>
          <p:cNvSpPr>
            <a:spLocks xmlns:a="http://schemas.openxmlformats.org/drawingml/2006/main" noGrp="1"/>
          </p:cNvSpPr>
          <p:nvPr/>
        </p:nvSpPr>
        <p:spPr>
          <a:xfrm xmlns:a="http://schemas.openxmlformats.org/drawingml/2006/main">
            <a:off x="8801100" y="4848225"/>
            <a:ext cx="240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SMTP email and NextSMS or mock SMS</a:t>
            </a:r>
          </a:p>
        </p:txBody>
      </p:sp>
      <p:cxnSp>
        <p:nvCxnSpPr>
          <p:cNvPr id="41" name=""/>
          <p:cNvCxnSpPr>
            <a:stCxn xmlns:a="http://schemas.openxmlformats.org/drawingml/2006/main" id="3" idx="3"/>
            <a:endCxn xmlns:a="http://schemas.openxmlformats.org/drawingml/2006/main" id="6" idx="1"/>
          </p:cNvCxnSpPr>
          <p:nvPr/>
        </p:nvCxnSpPr>
        <p:spPr>
          <a:xfrm xmlns:a="http://schemas.openxmlformats.org/drawingml/2006/main">
            <a:off x="2990850" y="2667000"/>
            <a:ext cx="866775" cy="0"/>
          </a:xfrm>
          <a:prstGeom xmlns:a="http://schemas.openxmlformats.org/drawingml/2006/main" prst="straightConnector1">
            <a:avLst/>
          </a:prstGeom>
          <a:ln xmlns:a="http://schemas.openxmlformats.org/drawingml/2006/main" w="19050">
            <a:solidFill>
              <a:srgbClr val="8A1F2D"/>
            </a:solidFill>
            <a:prstDash val="solid"/>
            <a:headEnd type="triangle" w="sm" len="sm"/>
          </a:ln>
        </p:spPr>
      </p:cxnSp>
      <p:cxnSp>
        <p:nvCxnSpPr>
          <p:cNvPr id="42" name=""/>
          <p:cNvCxnSpPr>
            <a:stCxn xmlns:a="http://schemas.openxmlformats.org/drawingml/2006/main" id="6" idx="3"/>
            <a:endCxn xmlns:a="http://schemas.openxmlformats.org/drawingml/2006/main" id="9" idx="1"/>
          </p:cNvCxnSpPr>
          <p:nvPr/>
        </p:nvCxnSpPr>
        <p:spPr>
          <a:xfrm xmlns:a="http://schemas.openxmlformats.org/drawingml/2006/main" flipV="1">
            <a:off x="7667625" y="2476500"/>
            <a:ext cx="904875" cy="190500"/>
          </a:xfrm>
          <a:prstGeom xmlns:a="http://schemas.openxmlformats.org/drawingml/2006/main" prst="bentConnector3">
            <a:avLst>
              <a:gd name="adj1" fmla="val 50000"/>
            </a:avLst>
          </a:prstGeom>
          <a:ln xmlns:a="http://schemas.openxmlformats.org/drawingml/2006/main" w="19050">
            <a:solidFill>
              <a:srgbClr val="253E73"/>
            </a:solidFill>
            <a:prstDash val="solid"/>
            <a:headEnd type="triangle" w="sm" len="sm"/>
          </a:ln>
        </p:spPr>
      </p:cxnSp>
      <p:cxnSp>
        <p:nvCxnSpPr>
          <p:cNvPr id="43" name=""/>
          <p:cNvCxnSpPr>
            <a:stCxn xmlns:a="http://schemas.openxmlformats.org/drawingml/2006/main" id="6" idx="2"/>
            <a:endCxn xmlns:a="http://schemas.openxmlformats.org/drawingml/2006/main" id="12" idx="0"/>
          </p:cNvCxnSpPr>
          <p:nvPr/>
        </p:nvCxnSpPr>
        <p:spPr>
          <a:xfrm xmlns:a="http://schemas.openxmlformats.org/drawingml/2006/main" flipH="1">
            <a:off x="5286375" y="3619500"/>
            <a:ext cx="476250" cy="628650"/>
          </a:xfrm>
          <a:prstGeom xmlns:a="http://schemas.openxmlformats.org/drawingml/2006/main" prst="bentConnector4">
            <a:avLst>
              <a:gd name="adj1" fmla="val 0"/>
              <a:gd name="adj2" fmla="val 50000"/>
            </a:avLst>
          </a:prstGeom>
          <a:ln xmlns:a="http://schemas.openxmlformats.org/drawingml/2006/main" w="19050">
            <a:solidFill>
              <a:srgbClr val="C79011"/>
            </a:solidFill>
            <a:prstDash val="solid"/>
            <a:headEnd type="triangle" w="sm" len="sm"/>
          </a:ln>
        </p:spPr>
      </p:cxnSp>
      <p:cxnSp>
        <p:nvCxnSpPr>
          <p:cNvPr id="44" name=""/>
          <p:cNvCxnSpPr>
            <a:stCxn xmlns:a="http://schemas.openxmlformats.org/drawingml/2006/main" id="6" idx="3"/>
            <a:endCxn xmlns:a="http://schemas.openxmlformats.org/drawingml/2006/main" id="15" idx="1"/>
          </p:cNvCxnSpPr>
          <p:nvPr/>
        </p:nvCxnSpPr>
        <p:spPr>
          <a:xfrm xmlns:a="http://schemas.openxmlformats.org/drawingml/2006/main">
            <a:off x="7667625" y="2667000"/>
            <a:ext cx="904875" cy="2152650"/>
          </a:xfrm>
          <a:prstGeom xmlns:a="http://schemas.openxmlformats.org/drawingml/2006/main" prst="bentConnector3">
            <a:avLst>
              <a:gd name="adj1" fmla="val 50000"/>
            </a:avLst>
          </a:prstGeom>
          <a:ln xmlns:a="http://schemas.openxmlformats.org/drawingml/2006/main" w="19050">
            <a:solidFill>
              <a:srgbClr val="7D838C"/>
            </a:solidFill>
            <a:prstDash val="solid"/>
            <a:headEnd type="triangle" w="sm" len="sm"/>
          </a:ln>
        </p:spPr>
      </p:cxnSp>
      <p:sp>
        <p:nvSpPr>
          <p:cNvPr id="22" name="">
            <a:extLst xmlns:a="http://schemas.openxmlformats.org/drawingml/2006/main">
              <a:ext uri="{FF2B5EF4-FFF2-40B4-BE49-F238E27FC236}">
                <a16:creationId xmlns:a16="http://schemas.microsoft.com/office/drawing/2014/main" id="{9648B048-B8FF-4F32-B6C8-66256BBF351D}"/>
              </a:ext>
            </a:extLst>
          </p:cNvPr>
          <p:cNvSpPr>
            <a:spLocks xmlns:a="http://schemas.openxmlformats.org/drawingml/2006/main" noGrp="1"/>
          </p:cNvSpPr>
          <p:nvPr/>
        </p:nvSpPr>
        <p:spPr>
          <a:xfrm xmlns:a="http://schemas.openxmlformats.org/drawingml/2006/main">
            <a:off x="619125" y="58483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The API owns authorization, business decisions and database access. The AI service receives only the inputs needed for a forecast.</a:t>
            </a:r>
          </a:p>
        </p:txBody>
      </p:sp>
      <p:sp>
        <p:nvSpPr>
          <p:cNvPr id="23" name="">
            <a:extLst xmlns:a="http://schemas.openxmlformats.org/drawingml/2006/main">
              <a:ext uri="{FF2B5EF4-FFF2-40B4-BE49-F238E27FC236}">
                <a16:creationId xmlns:a16="http://schemas.microsoft.com/office/drawing/2014/main" id="{8DE493D3-7C39-41F6-A714-94F23F38A521}"/>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5</a:t>
            </a:r>
          </a:p>
        </p:txBody>
      </p:sp>
    </p:spTree>
    <p:extLst>
      <p:ext uri="{BB962C8B-B14F-4D97-AF65-F5344CB8AC3E}">
        <p14:creationId xmlns:p14="http://schemas.microsoft.com/office/powerpoint/2010/main" val="15543198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974EB5D-DF27-4575-B892-D3D1C09AC8BB}"/>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5F6C35A8-383C-47EF-9D09-4FEF2FE2A487}"/>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Three roles with explicit access boundaries</a:t>
            </a:r>
          </a:p>
        </p:txBody>
      </p:sp>
      <p:sp>
        <p:nvSpPr>
          <p:cNvPr id="3" name="">
            <a:extLst xmlns:a="http://schemas.openxmlformats.org/drawingml/2006/main">
              <a:ext uri="{FF2B5EF4-FFF2-40B4-BE49-F238E27FC236}">
                <a16:creationId xmlns:a16="http://schemas.microsoft.com/office/drawing/2014/main" id="{98D75DFB-BA26-4217-AEFB-C7C1FE3A860D}"/>
              </a:ext>
            </a:extLst>
          </p:cNvPr>
          <p:cNvSpPr>
            <a:spLocks xmlns:a="http://schemas.openxmlformats.org/drawingml/2006/main" noGrp="1"/>
          </p:cNvSpPr>
          <p:nvPr/>
        </p:nvSpPr>
        <p:spPr>
          <a:xfrm xmlns:a="http://schemas.openxmlformats.org/drawingml/2006/main">
            <a:off x="552450" y="1676400"/>
            <a:ext cx="3238500" cy="3143250"/>
          </a:xfrm>
          <a:prstGeom xmlns:a="http://schemas.openxmlformats.org/drawingml/2006/main" prst="roundRect">
            <a:avLst>
              <a:gd name="adj" fmla="val 3636"/>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FB1433BF-82AF-4728-90E9-5202157B1FDD}"/>
              </a:ext>
            </a:extLst>
          </p:cNvPr>
          <p:cNvSpPr>
            <a:spLocks xmlns:a="http://schemas.openxmlformats.org/drawingml/2006/main" noGrp="1"/>
          </p:cNvSpPr>
          <p:nvPr/>
        </p:nvSpPr>
        <p:spPr>
          <a:xfrm xmlns:a="http://schemas.openxmlformats.org/drawingml/2006/main">
            <a:off x="781050"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8A1F2D"/>
                </a:solidFill>
                <a:latin typeface="Calibri"/>
                <a:ea typeface="Calibri"/>
                <a:cs typeface="Calibri"/>
              </a:defRPr>
            </a:pPr>
            <a:r>
              <a:rPr sz="1800" b="1" i="0">
                <a:solidFill>
                  <a:srgbClr val="8A1F2D"/>
                </a:solidFill>
                <a:latin typeface="Calibri"/>
                <a:ea typeface="Calibri"/>
                <a:cs typeface="Calibri"/>
              </a:rPr>
              <a:t>Administrator</a:t>
            </a:r>
          </a:p>
        </p:txBody>
      </p:sp>
      <p:sp>
        <p:nvSpPr>
          <p:cNvPr id="5" name="">
            <a:extLst xmlns:a="http://schemas.openxmlformats.org/drawingml/2006/main">
              <a:ext uri="{FF2B5EF4-FFF2-40B4-BE49-F238E27FC236}">
                <a16:creationId xmlns:a16="http://schemas.microsoft.com/office/drawing/2014/main" id="{B1B43331-DC70-4DB7-B5A4-02432C643047}"/>
              </a:ext>
            </a:extLst>
          </p:cNvPr>
          <p:cNvSpPr>
            <a:spLocks xmlns:a="http://schemas.openxmlformats.org/drawingml/2006/main" noGrp="1"/>
          </p:cNvSpPr>
          <p:nvPr/>
        </p:nvSpPr>
        <p:spPr>
          <a:xfrm xmlns:a="http://schemas.openxmlformats.org/drawingml/2006/main">
            <a:off x="781050"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8A1F2D"/>
                </a:solidFill>
                <a:latin typeface="Calibri"/>
                <a:ea typeface="Calibri"/>
                <a:cs typeface="Calibri"/>
              </a:defRPr>
            </a:pPr>
            <a:r>
              <a:rPr sz="900" b="1" i="0">
                <a:solidFill>
                  <a:srgbClr val="8A1F2D"/>
                </a:solidFill>
                <a:latin typeface="Calibri"/>
                <a:ea typeface="Calibri"/>
                <a:cs typeface="Calibri"/>
              </a:rPr>
              <a:t>SYSTEM-WIDE</a:t>
            </a:r>
          </a:p>
        </p:txBody>
      </p:sp>
      <p:sp>
        <p:nvSpPr>
          <p:cNvPr id="6" name="">
            <a:extLst xmlns:a="http://schemas.openxmlformats.org/drawingml/2006/main">
              <a:ext uri="{FF2B5EF4-FFF2-40B4-BE49-F238E27FC236}">
                <a16:creationId xmlns:a16="http://schemas.microsoft.com/office/drawing/2014/main" id="{3A21887B-7157-40CF-81B3-221A6E93506D}"/>
              </a:ext>
            </a:extLst>
          </p:cNvPr>
          <p:cNvSpPr>
            <a:spLocks xmlns:a="http://schemas.openxmlformats.org/drawingml/2006/main" noGrp="1"/>
          </p:cNvSpPr>
          <p:nvPr/>
        </p:nvSpPr>
        <p:spPr>
          <a:xfrm xmlns:a="http://schemas.openxmlformats.org/drawingml/2006/main">
            <a:off x="838200"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All 25 permissions. Manages users, roles and facilities, plus every operational, reporting and audit function.</a:t>
            </a:r>
          </a:p>
        </p:txBody>
      </p:sp>
      <p:sp>
        <p:nvSpPr>
          <p:cNvPr id="7" name="">
            <a:extLst xmlns:a="http://schemas.openxmlformats.org/drawingml/2006/main">
              <a:ext uri="{FF2B5EF4-FFF2-40B4-BE49-F238E27FC236}">
                <a16:creationId xmlns:a16="http://schemas.microsoft.com/office/drawing/2014/main" id="{BD8CAD7A-B4D8-4A46-ACE6-8E80740D1AE2}"/>
              </a:ext>
            </a:extLst>
          </p:cNvPr>
          <p:cNvSpPr>
            <a:spLocks xmlns:a="http://schemas.openxmlformats.org/drawingml/2006/main" noGrp="1"/>
          </p:cNvSpPr>
          <p:nvPr/>
        </p:nvSpPr>
        <p:spPr>
          <a:xfrm xmlns:a="http://schemas.openxmlformats.org/drawingml/2006/main">
            <a:off x="819150"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8A1F2D"/>
                </a:solidFill>
                <a:latin typeface="Calibri"/>
                <a:ea typeface="Calibri"/>
                <a:cs typeface="Calibri"/>
              </a:defRPr>
            </a:pPr>
            <a:r>
              <a:rPr sz="1050" b="1" i="0">
                <a:solidFill>
                  <a:srgbClr val="8A1F2D"/>
                </a:solidFill>
                <a:latin typeface="Calibri"/>
                <a:ea typeface="Calibri"/>
                <a:cs typeface="Calibri"/>
              </a:rPr>
              <a:t>No facility restriction</a:t>
            </a:r>
          </a:p>
        </p:txBody>
      </p:sp>
      <p:sp>
        <p:nvSpPr>
          <p:cNvPr id="8" name="">
            <a:extLst xmlns:a="http://schemas.openxmlformats.org/drawingml/2006/main">
              <a:ext uri="{FF2B5EF4-FFF2-40B4-BE49-F238E27FC236}">
                <a16:creationId xmlns:a16="http://schemas.microsoft.com/office/drawing/2014/main" id="{1333157A-84C2-456B-8607-172EA5A1FC68}"/>
              </a:ext>
            </a:extLst>
          </p:cNvPr>
          <p:cNvSpPr>
            <a:spLocks xmlns:a="http://schemas.openxmlformats.org/drawingml/2006/main" noGrp="1"/>
          </p:cNvSpPr>
          <p:nvPr/>
        </p:nvSpPr>
        <p:spPr>
          <a:xfrm xmlns:a="http://schemas.openxmlformats.org/drawingml/2006/main">
            <a:off x="4181475" y="1676400"/>
            <a:ext cx="3238500" cy="3143250"/>
          </a:xfrm>
          <a:prstGeom xmlns:a="http://schemas.openxmlformats.org/drawingml/2006/main" prst="roundRect">
            <a:avLst>
              <a:gd name="adj" fmla="val 3636"/>
            </a:avLst>
          </a:prstGeom>
          <a:solidFill xmlns:a="http://schemas.openxmlformats.org/drawingml/2006/main">
            <a:srgbClr val="EEF2F8"/>
          </a:solidFill>
          <a:ln xmlns:a="http://schemas.openxmlformats.org/drawingml/2006/main" w="14288">
            <a:solidFill>
              <a:srgbClr val="253E73"/>
            </a:solidFill>
            <a:prstDash val="solid"/>
          </a:ln>
        </p:spPr>
      </p:sp>
      <p:sp>
        <p:nvSpPr>
          <p:cNvPr id="9" name="">
            <a:extLst xmlns:a="http://schemas.openxmlformats.org/drawingml/2006/main">
              <a:ext uri="{FF2B5EF4-FFF2-40B4-BE49-F238E27FC236}">
                <a16:creationId xmlns:a16="http://schemas.microsoft.com/office/drawing/2014/main" id="{517D6EFA-2FEA-4FCA-A90C-B5CE6608C2B2}"/>
              </a:ext>
            </a:extLst>
          </p:cNvPr>
          <p:cNvSpPr>
            <a:spLocks xmlns:a="http://schemas.openxmlformats.org/drawingml/2006/main" noGrp="1"/>
          </p:cNvSpPr>
          <p:nvPr/>
        </p:nvSpPr>
        <p:spPr>
          <a:xfrm xmlns:a="http://schemas.openxmlformats.org/drawingml/2006/main">
            <a:off x="4410075"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253E73"/>
                </a:solidFill>
                <a:latin typeface="Calibri"/>
                <a:ea typeface="Calibri"/>
                <a:cs typeface="Calibri"/>
              </a:defRPr>
            </a:pPr>
            <a:r>
              <a:rPr sz="1800" b="1" i="0">
                <a:solidFill>
                  <a:srgbClr val="253E73"/>
                </a:solidFill>
                <a:latin typeface="Calibri"/>
                <a:ea typeface="Calibri"/>
                <a:cs typeface="Calibri"/>
              </a:rPr>
              <a:t>Blood Bank Staff</a:t>
            </a:r>
          </a:p>
        </p:txBody>
      </p:sp>
      <p:sp>
        <p:nvSpPr>
          <p:cNvPr id="10" name="">
            <a:extLst xmlns:a="http://schemas.openxmlformats.org/drawingml/2006/main">
              <a:ext uri="{FF2B5EF4-FFF2-40B4-BE49-F238E27FC236}">
                <a16:creationId xmlns:a16="http://schemas.microsoft.com/office/drawing/2014/main" id="{A66C48F1-C4A7-48FB-AF08-7B440196CA1D}"/>
              </a:ext>
            </a:extLst>
          </p:cNvPr>
          <p:cNvSpPr>
            <a:spLocks xmlns:a="http://schemas.openxmlformats.org/drawingml/2006/main" noGrp="1"/>
          </p:cNvSpPr>
          <p:nvPr/>
        </p:nvSpPr>
        <p:spPr>
          <a:xfrm xmlns:a="http://schemas.openxmlformats.org/drawingml/2006/main">
            <a:off x="4410075"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253E73"/>
                </a:solidFill>
                <a:latin typeface="Calibri"/>
                <a:ea typeface="Calibri"/>
                <a:cs typeface="Calibri"/>
              </a:defRPr>
            </a:pPr>
            <a:r>
              <a:rPr sz="900" b="1" i="0">
                <a:solidFill>
                  <a:srgbClr val="253E73"/>
                </a:solidFill>
                <a:latin typeface="Calibri"/>
                <a:ea typeface="Calibri"/>
                <a:cs typeface="Calibri"/>
              </a:rPr>
              <a:t>BLOOD-BANK OPERATIONS</a:t>
            </a:r>
          </a:p>
        </p:txBody>
      </p:sp>
      <p:sp>
        <p:nvSpPr>
          <p:cNvPr id="11" name="">
            <a:extLst xmlns:a="http://schemas.openxmlformats.org/drawingml/2006/main">
              <a:ext uri="{FF2B5EF4-FFF2-40B4-BE49-F238E27FC236}">
                <a16:creationId xmlns:a16="http://schemas.microsoft.com/office/drawing/2014/main" id="{AF745F04-2B57-415B-9594-42A67ECB01FB}"/>
              </a:ext>
            </a:extLst>
          </p:cNvPr>
          <p:cNvSpPr>
            <a:spLocks xmlns:a="http://schemas.openxmlformats.org/drawingml/2006/main" noGrp="1"/>
          </p:cNvSpPr>
          <p:nvPr/>
        </p:nvSpPr>
        <p:spPr>
          <a:xfrm xmlns:a="http://schemas.openxmlformats.org/drawingml/2006/main">
            <a:off x="4467225"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Manages donors, donations, stock, requests, alerts, notifications and operational reports.</a:t>
            </a:r>
          </a:p>
        </p:txBody>
      </p:sp>
      <p:sp>
        <p:nvSpPr>
          <p:cNvPr id="12" name="">
            <a:extLst xmlns:a="http://schemas.openxmlformats.org/drawingml/2006/main">
              <a:ext uri="{FF2B5EF4-FFF2-40B4-BE49-F238E27FC236}">
                <a16:creationId xmlns:a16="http://schemas.microsoft.com/office/drawing/2014/main" id="{79419B64-452F-4C8C-A187-4D44942DB663}"/>
              </a:ext>
            </a:extLst>
          </p:cNvPr>
          <p:cNvSpPr>
            <a:spLocks xmlns:a="http://schemas.openxmlformats.org/drawingml/2006/main" noGrp="1"/>
          </p:cNvSpPr>
          <p:nvPr/>
        </p:nvSpPr>
        <p:spPr>
          <a:xfrm xmlns:a="http://schemas.openxmlformats.org/drawingml/2006/main">
            <a:off x="4448175"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253E73"/>
                </a:solidFill>
                <a:latin typeface="Calibri"/>
                <a:ea typeface="Calibri"/>
                <a:cs typeface="Calibri"/>
              </a:defRPr>
            </a:pPr>
            <a:r>
              <a:rPr sz="1050" b="1" i="0">
                <a:solidFill>
                  <a:srgbClr val="253E73"/>
                </a:solidFill>
                <a:latin typeface="Calibri"/>
                <a:ea typeface="Calibri"/>
                <a:cs typeface="Calibri"/>
              </a:rPr>
              <a:t>No user, role or configuration administration</a:t>
            </a:r>
          </a:p>
        </p:txBody>
      </p:sp>
      <p:sp>
        <p:nvSpPr>
          <p:cNvPr id="13" name="">
            <a:extLst xmlns:a="http://schemas.openxmlformats.org/drawingml/2006/main">
              <a:ext uri="{FF2B5EF4-FFF2-40B4-BE49-F238E27FC236}">
                <a16:creationId xmlns:a16="http://schemas.microsoft.com/office/drawing/2014/main" id="{E2B5EACC-6C8C-44B6-8036-05566C2772C2}"/>
              </a:ext>
            </a:extLst>
          </p:cNvPr>
          <p:cNvSpPr>
            <a:spLocks xmlns:a="http://schemas.openxmlformats.org/drawingml/2006/main" noGrp="1"/>
          </p:cNvSpPr>
          <p:nvPr/>
        </p:nvSpPr>
        <p:spPr>
          <a:xfrm xmlns:a="http://schemas.openxmlformats.org/drawingml/2006/main">
            <a:off x="7810500" y="1676400"/>
            <a:ext cx="3238500" cy="3143250"/>
          </a:xfrm>
          <a:prstGeom xmlns:a="http://schemas.openxmlformats.org/drawingml/2006/main" prst="roundRect">
            <a:avLst>
              <a:gd name="adj" fmla="val 3636"/>
            </a:avLst>
          </a:prstGeom>
          <a:solidFill xmlns:a="http://schemas.openxmlformats.org/drawingml/2006/main">
            <a:srgbClr val="FBF5E6"/>
          </a:solidFill>
          <a:ln xmlns:a="http://schemas.openxmlformats.org/drawingml/2006/main" w="14288">
            <a:solidFill>
              <a:srgbClr val="C79011"/>
            </a:solidFill>
            <a:prstDash val="solid"/>
          </a:ln>
        </p:spPr>
      </p:sp>
      <p:sp>
        <p:nvSpPr>
          <p:cNvPr id="14" name="">
            <a:extLst xmlns:a="http://schemas.openxmlformats.org/drawingml/2006/main">
              <a:ext uri="{FF2B5EF4-FFF2-40B4-BE49-F238E27FC236}">
                <a16:creationId xmlns:a16="http://schemas.microsoft.com/office/drawing/2014/main" id="{3229E4CC-4CC4-48CC-9D68-4FB02A8451AA}"/>
              </a:ext>
            </a:extLst>
          </p:cNvPr>
          <p:cNvSpPr>
            <a:spLocks xmlns:a="http://schemas.openxmlformats.org/drawingml/2006/main" noGrp="1"/>
          </p:cNvSpPr>
          <p:nvPr/>
        </p:nvSpPr>
        <p:spPr>
          <a:xfrm xmlns:a="http://schemas.openxmlformats.org/drawingml/2006/main">
            <a:off x="8039100" y="192405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i="0">
                <a:solidFill>
                  <a:srgbClr val="C79011"/>
                </a:solidFill>
                <a:latin typeface="Calibri"/>
                <a:ea typeface="Calibri"/>
                <a:cs typeface="Calibri"/>
              </a:defRPr>
            </a:pPr>
            <a:r>
              <a:rPr sz="1800" b="1" i="0">
                <a:solidFill>
                  <a:srgbClr val="C79011"/>
                </a:solidFill>
                <a:latin typeface="Calibri"/>
                <a:ea typeface="Calibri"/>
                <a:cs typeface="Calibri"/>
              </a:rPr>
              <a:t>Hospital Staff</a:t>
            </a:r>
          </a:p>
        </p:txBody>
      </p:sp>
      <p:sp>
        <p:nvSpPr>
          <p:cNvPr id="15" name="">
            <a:extLst xmlns:a="http://schemas.openxmlformats.org/drawingml/2006/main">
              <a:ext uri="{FF2B5EF4-FFF2-40B4-BE49-F238E27FC236}">
                <a16:creationId xmlns:a16="http://schemas.microsoft.com/office/drawing/2014/main" id="{B543A73E-970B-4E46-AE59-343759417812}"/>
              </a:ext>
            </a:extLst>
          </p:cNvPr>
          <p:cNvSpPr>
            <a:spLocks xmlns:a="http://schemas.openxmlformats.org/drawingml/2006/main" noGrp="1"/>
          </p:cNvSpPr>
          <p:nvPr/>
        </p:nvSpPr>
        <p:spPr>
          <a:xfrm xmlns:a="http://schemas.openxmlformats.org/drawingml/2006/main">
            <a:off x="8039100" y="2390775"/>
            <a:ext cx="2781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i="0">
                <a:solidFill>
                  <a:srgbClr val="C79011"/>
                </a:solidFill>
                <a:latin typeface="Calibri"/>
                <a:ea typeface="Calibri"/>
                <a:cs typeface="Calibri"/>
              </a:defRPr>
            </a:pPr>
            <a:r>
              <a:rPr sz="900" b="1" i="0">
                <a:solidFill>
                  <a:srgbClr val="C79011"/>
                </a:solidFill>
                <a:latin typeface="Calibri"/>
                <a:ea typeface="Calibri"/>
                <a:cs typeface="Calibri"/>
              </a:rPr>
              <a:t>ASSIGNED FACILITY</a:t>
            </a:r>
          </a:p>
        </p:txBody>
      </p:sp>
      <p:sp>
        <p:nvSpPr>
          <p:cNvPr id="16" name="">
            <a:extLst xmlns:a="http://schemas.openxmlformats.org/drawingml/2006/main">
              <a:ext uri="{FF2B5EF4-FFF2-40B4-BE49-F238E27FC236}">
                <a16:creationId xmlns:a16="http://schemas.microsoft.com/office/drawing/2014/main" id="{8EE13175-98E5-4FA3-86BB-030FD3283ADC}"/>
              </a:ext>
            </a:extLst>
          </p:cNvPr>
          <p:cNvSpPr>
            <a:spLocks xmlns:a="http://schemas.openxmlformats.org/drawingml/2006/main" noGrp="1"/>
          </p:cNvSpPr>
          <p:nvPr/>
        </p:nvSpPr>
        <p:spPr>
          <a:xfrm xmlns:a="http://schemas.openxmlformats.org/drawingml/2006/main">
            <a:off x="8096250" y="2895600"/>
            <a:ext cx="266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0" i="0">
                <a:solidFill>
                  <a:srgbClr val="30343B"/>
                </a:solidFill>
                <a:latin typeface="Calibri"/>
                <a:ea typeface="Calibri"/>
                <a:cs typeface="Calibri"/>
              </a:defRPr>
            </a:pPr>
            <a:r>
              <a:rPr sz="1275" b="0" i="0">
                <a:solidFill>
                  <a:srgbClr val="30343B"/>
                </a:solidFill>
                <a:latin typeface="Calibri"/>
                <a:ea typeface="Calibri"/>
                <a:cs typeface="Calibri"/>
              </a:rPr>
              <a:t>Views and updates facility inventory, creates and updates blood requests, and reads facility reports.</a:t>
            </a:r>
          </a:p>
        </p:txBody>
      </p:sp>
      <p:sp>
        <p:nvSpPr>
          <p:cNvPr id="17" name="">
            <a:extLst xmlns:a="http://schemas.openxmlformats.org/drawingml/2006/main">
              <a:ext uri="{FF2B5EF4-FFF2-40B4-BE49-F238E27FC236}">
                <a16:creationId xmlns:a16="http://schemas.microsoft.com/office/drawing/2014/main" id="{A6711D2A-688D-407C-BDD3-638B2CAA4E16}"/>
              </a:ext>
            </a:extLst>
          </p:cNvPr>
          <p:cNvSpPr>
            <a:spLocks xmlns:a="http://schemas.openxmlformats.org/drawingml/2006/main" noGrp="1"/>
          </p:cNvSpPr>
          <p:nvPr/>
        </p:nvSpPr>
        <p:spPr>
          <a:xfrm xmlns:a="http://schemas.openxmlformats.org/drawingml/2006/main">
            <a:off x="8077200" y="416242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C79011"/>
                </a:solidFill>
                <a:latin typeface="Calibri"/>
                <a:ea typeface="Calibri"/>
                <a:cs typeface="Calibri"/>
              </a:defRPr>
            </a:pPr>
            <a:r>
              <a:rPr sz="1050" b="1" i="0">
                <a:solidFill>
                  <a:srgbClr val="C79011"/>
                </a:solidFill>
                <a:latin typeface="Calibri"/>
                <a:ea typeface="Calibri"/>
                <a:cs typeface="Calibri"/>
              </a:rPr>
              <a:t>API forces the user facility on every scoped operation</a:t>
            </a:r>
          </a:p>
        </p:txBody>
      </p:sp>
      <p:sp>
        <p:nvSpPr>
          <p:cNvPr id="18" name="">
            <a:extLst xmlns:a="http://schemas.openxmlformats.org/drawingml/2006/main">
              <a:ext uri="{FF2B5EF4-FFF2-40B4-BE49-F238E27FC236}">
                <a16:creationId xmlns:a16="http://schemas.microsoft.com/office/drawing/2014/main" id="{C8E134C1-5548-4ECF-9FD2-5D3876183B05}"/>
              </a:ext>
            </a:extLst>
          </p:cNvPr>
          <p:cNvSpPr>
            <a:spLocks xmlns:a="http://schemas.openxmlformats.org/drawingml/2006/main" noGrp="1"/>
          </p:cNvSpPr>
          <p:nvPr/>
        </p:nvSpPr>
        <p:spPr>
          <a:xfrm xmlns:a="http://schemas.openxmlformats.org/drawingml/2006/main">
            <a:off x="8572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FD56D206-73AE-49B6-8E78-6D30B03DABAE}"/>
              </a:ext>
            </a:extLst>
          </p:cNvPr>
          <p:cNvSpPr>
            <a:spLocks xmlns:a="http://schemas.openxmlformats.org/drawingml/2006/main" noGrp="1"/>
          </p:cNvSpPr>
          <p:nvPr/>
        </p:nvSpPr>
        <p:spPr>
          <a:xfrm xmlns:a="http://schemas.openxmlformats.org/drawingml/2006/main">
            <a:off x="9525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Session</a:t>
            </a:r>
          </a:p>
        </p:txBody>
      </p:sp>
      <p:sp>
        <p:nvSpPr>
          <p:cNvPr id="20" name="">
            <a:extLst xmlns:a="http://schemas.openxmlformats.org/drawingml/2006/main">
              <a:ext uri="{FF2B5EF4-FFF2-40B4-BE49-F238E27FC236}">
                <a16:creationId xmlns:a16="http://schemas.microsoft.com/office/drawing/2014/main" id="{088EB4CF-1876-4438-9F5E-C33EBB519ABE}"/>
              </a:ext>
            </a:extLst>
          </p:cNvPr>
          <p:cNvSpPr>
            <a:spLocks xmlns:a="http://schemas.openxmlformats.org/drawingml/2006/main" noGrp="1"/>
          </p:cNvSpPr>
          <p:nvPr/>
        </p:nvSpPr>
        <p:spPr>
          <a:xfrm xmlns:a="http://schemas.openxmlformats.org/drawingml/2006/main">
            <a:off x="285750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EF15C9C8-01DA-448A-8A41-B0EA9BA9D9CE}"/>
              </a:ext>
            </a:extLst>
          </p:cNvPr>
          <p:cNvSpPr>
            <a:spLocks xmlns:a="http://schemas.openxmlformats.org/drawingml/2006/main" noGrp="1"/>
          </p:cNvSpPr>
          <p:nvPr/>
        </p:nvSpPr>
        <p:spPr>
          <a:xfrm xmlns:a="http://schemas.openxmlformats.org/drawingml/2006/main">
            <a:off x="295275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User roles</a:t>
            </a:r>
          </a:p>
        </p:txBody>
      </p:sp>
      <p:sp>
        <p:nvSpPr>
          <p:cNvPr id="22" name="">
            <a:extLst xmlns:a="http://schemas.openxmlformats.org/drawingml/2006/main">
              <a:ext uri="{FF2B5EF4-FFF2-40B4-BE49-F238E27FC236}">
                <a16:creationId xmlns:a16="http://schemas.microsoft.com/office/drawing/2014/main" id="{495A0420-A5A2-455F-B395-DDAF87636FB8}"/>
              </a:ext>
            </a:extLst>
          </p:cNvPr>
          <p:cNvSpPr>
            <a:spLocks xmlns:a="http://schemas.openxmlformats.org/drawingml/2006/main" noGrp="1"/>
          </p:cNvSpPr>
          <p:nvPr/>
        </p:nvSpPr>
        <p:spPr>
          <a:xfrm xmlns:a="http://schemas.openxmlformats.org/drawingml/2006/main">
            <a:off x="48577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9097D049-6AD6-48B9-9C4C-C5EFE412BFFF}"/>
              </a:ext>
            </a:extLst>
          </p:cNvPr>
          <p:cNvSpPr>
            <a:spLocks xmlns:a="http://schemas.openxmlformats.org/drawingml/2006/main" noGrp="1"/>
          </p:cNvSpPr>
          <p:nvPr/>
        </p:nvSpPr>
        <p:spPr>
          <a:xfrm xmlns:a="http://schemas.openxmlformats.org/drawingml/2006/main">
            <a:off x="49530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Permissions</a:t>
            </a:r>
          </a:p>
        </p:txBody>
      </p:sp>
      <p:sp>
        <p:nvSpPr>
          <p:cNvPr id="24" name="">
            <a:extLst xmlns:a="http://schemas.openxmlformats.org/drawingml/2006/main">
              <a:ext uri="{FF2B5EF4-FFF2-40B4-BE49-F238E27FC236}">
                <a16:creationId xmlns:a16="http://schemas.microsoft.com/office/drawing/2014/main" id="{595E1064-D781-4C5A-806A-8D4BBF026B71}"/>
              </a:ext>
            </a:extLst>
          </p:cNvPr>
          <p:cNvSpPr>
            <a:spLocks xmlns:a="http://schemas.openxmlformats.org/drawingml/2006/main" noGrp="1"/>
          </p:cNvSpPr>
          <p:nvPr/>
        </p:nvSpPr>
        <p:spPr>
          <a:xfrm xmlns:a="http://schemas.openxmlformats.org/drawingml/2006/main">
            <a:off x="685800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C4FCDBD2-0DBF-462D-9717-CE49237C475A}"/>
              </a:ext>
            </a:extLst>
          </p:cNvPr>
          <p:cNvSpPr>
            <a:spLocks xmlns:a="http://schemas.openxmlformats.org/drawingml/2006/main" noGrp="1"/>
          </p:cNvSpPr>
          <p:nvPr/>
        </p:nvSpPr>
        <p:spPr>
          <a:xfrm xmlns:a="http://schemas.openxmlformats.org/drawingml/2006/main">
            <a:off x="695325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API route</a:t>
            </a:r>
          </a:p>
        </p:txBody>
      </p:sp>
      <p:sp>
        <p:nvSpPr>
          <p:cNvPr id="26" name="">
            <a:extLst xmlns:a="http://schemas.openxmlformats.org/drawingml/2006/main">
              <a:ext uri="{FF2B5EF4-FFF2-40B4-BE49-F238E27FC236}">
                <a16:creationId xmlns:a16="http://schemas.microsoft.com/office/drawing/2014/main" id="{A998527C-A3B0-4280-BE94-37C59C42A21F}"/>
              </a:ext>
            </a:extLst>
          </p:cNvPr>
          <p:cNvSpPr>
            <a:spLocks xmlns:a="http://schemas.openxmlformats.org/drawingml/2006/main" noGrp="1"/>
          </p:cNvSpPr>
          <p:nvPr/>
        </p:nvSpPr>
        <p:spPr>
          <a:xfrm xmlns:a="http://schemas.openxmlformats.org/drawingml/2006/main">
            <a:off x="8858250" y="5381625"/>
            <a:ext cx="1524000" cy="457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A2C04D61-24F9-4506-A5D9-36D911229A99}"/>
              </a:ext>
            </a:extLst>
          </p:cNvPr>
          <p:cNvSpPr>
            <a:spLocks xmlns:a="http://schemas.openxmlformats.org/drawingml/2006/main" noGrp="1"/>
          </p:cNvSpPr>
          <p:nvPr/>
        </p:nvSpPr>
        <p:spPr>
          <a:xfrm xmlns:a="http://schemas.openxmlformats.org/drawingml/2006/main">
            <a:off x="8953500" y="5495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0343B"/>
                </a:solidFill>
                <a:latin typeface="Calibri"/>
                <a:ea typeface="Calibri"/>
                <a:cs typeface="Calibri"/>
              </a:defRPr>
            </a:pPr>
            <a:r>
              <a:rPr sz="1125" b="1" i="0">
                <a:solidFill>
                  <a:srgbClr val="30343B"/>
                </a:solidFill>
                <a:latin typeface="Calibri"/>
                <a:ea typeface="Calibri"/>
                <a:cs typeface="Calibri"/>
              </a:rPr>
              <a:t>Facility filter</a:t>
            </a:r>
          </a:p>
        </p:txBody>
      </p:sp>
      <p:cxnSp>
        <p:nvCxnSpPr>
          <p:cNvPr id="61" name=""/>
          <p:cNvCxnSpPr>
            <a:stCxn xmlns:a="http://schemas.openxmlformats.org/drawingml/2006/main" id="18" idx="3"/>
            <a:endCxn xmlns:a="http://schemas.openxmlformats.org/drawingml/2006/main" id="20" idx="1"/>
          </p:cNvCxnSpPr>
          <p:nvPr/>
        </p:nvCxnSpPr>
        <p:spPr>
          <a:xfrm xmlns:a="http://schemas.openxmlformats.org/drawingml/2006/main">
            <a:off x="2381250" y="5610225"/>
            <a:ext cx="476250" cy="0"/>
          </a:xfrm>
          <a:prstGeom xmlns:a="http://schemas.openxmlformats.org/drawingml/2006/main" prst="straightConnector1">
            <a:avLst/>
          </a:prstGeom>
          <a:ln xmlns:a="http://schemas.openxmlformats.org/drawingml/2006/main" w="14288">
            <a:solidFill>
              <a:srgbClr val="9AA1AA"/>
            </a:solidFill>
            <a:prstDash val="solid"/>
            <a:headEnd type="triangle" w="sm" len="sm"/>
          </a:ln>
        </p:spPr>
      </p:cxnSp>
      <p:cxnSp>
        <p:nvCxnSpPr>
          <p:cNvPr id="62" name=""/>
          <p:cNvCxnSpPr>
            <a:stCxn xmlns:a="http://schemas.openxmlformats.org/drawingml/2006/main" id="20" idx="3"/>
            <a:endCxn xmlns:a="http://schemas.openxmlformats.org/drawingml/2006/main" id="22" idx="1"/>
          </p:cNvCxnSpPr>
          <p:nvPr/>
        </p:nvCxnSpPr>
        <p:spPr>
          <a:xfrm xmlns:a="http://schemas.openxmlformats.org/drawingml/2006/main">
            <a:off x="4381500" y="5610225"/>
            <a:ext cx="476250" cy="0"/>
          </a:xfrm>
          <a:prstGeom xmlns:a="http://schemas.openxmlformats.org/drawingml/2006/main" prst="straightConnector1">
            <a:avLst/>
          </a:prstGeom>
          <a:ln xmlns:a="http://schemas.openxmlformats.org/drawingml/2006/main" w="14288">
            <a:solidFill>
              <a:srgbClr val="9AA1AA"/>
            </a:solidFill>
            <a:prstDash val="solid"/>
            <a:headEnd type="triangle" w="sm" len="sm"/>
          </a:ln>
        </p:spPr>
      </p:cxnSp>
      <p:cxnSp>
        <p:nvCxnSpPr>
          <p:cNvPr id="63" name=""/>
          <p:cNvCxnSpPr>
            <a:stCxn xmlns:a="http://schemas.openxmlformats.org/drawingml/2006/main" id="22" idx="3"/>
            <a:endCxn xmlns:a="http://schemas.openxmlformats.org/drawingml/2006/main" id="24" idx="1"/>
          </p:cNvCxnSpPr>
          <p:nvPr/>
        </p:nvCxnSpPr>
        <p:spPr>
          <a:xfrm xmlns:a="http://schemas.openxmlformats.org/drawingml/2006/main">
            <a:off x="6381750" y="5610225"/>
            <a:ext cx="476250" cy="0"/>
          </a:xfrm>
          <a:prstGeom xmlns:a="http://schemas.openxmlformats.org/drawingml/2006/main" prst="straightConnector1">
            <a:avLst/>
          </a:prstGeom>
          <a:ln xmlns:a="http://schemas.openxmlformats.org/drawingml/2006/main" w="14288">
            <a:solidFill>
              <a:srgbClr val="9AA1AA"/>
            </a:solidFill>
            <a:prstDash val="solid"/>
            <a:headEnd type="triangle" w="sm" len="sm"/>
          </a:ln>
        </p:spPr>
      </p:cxnSp>
      <p:cxnSp>
        <p:nvCxnSpPr>
          <p:cNvPr id="64" name=""/>
          <p:cNvCxnSpPr>
            <a:stCxn xmlns:a="http://schemas.openxmlformats.org/drawingml/2006/main" id="24" idx="3"/>
            <a:endCxn xmlns:a="http://schemas.openxmlformats.org/drawingml/2006/main" id="26" idx="1"/>
          </p:cNvCxnSpPr>
          <p:nvPr/>
        </p:nvCxnSpPr>
        <p:spPr>
          <a:xfrm xmlns:a="http://schemas.openxmlformats.org/drawingml/2006/main">
            <a:off x="8382000" y="5610225"/>
            <a:ext cx="476250" cy="0"/>
          </a:xfrm>
          <a:prstGeom xmlns:a="http://schemas.openxmlformats.org/drawingml/2006/main" prst="straightConnector1">
            <a:avLst/>
          </a:prstGeom>
          <a:ln xmlns:a="http://schemas.openxmlformats.org/drawingml/2006/main" w="14288">
            <a:solidFill>
              <a:srgbClr val="9AA1AA"/>
            </a:solidFill>
            <a:prstDash val="solid"/>
            <a:headEnd type="triangle" w="sm" len="sm"/>
          </a:ln>
        </p:spPr>
      </p:cxnSp>
      <p:sp>
        <p:nvSpPr>
          <p:cNvPr id="32" name="">
            <a:extLst xmlns:a="http://schemas.openxmlformats.org/drawingml/2006/main">
              <a:ext uri="{FF2B5EF4-FFF2-40B4-BE49-F238E27FC236}">
                <a16:creationId xmlns:a16="http://schemas.microsoft.com/office/drawing/2014/main" id="{BE4913D2-951B-46EA-8F41-8E25B1283AA2}"/>
              </a:ext>
            </a:extLst>
          </p:cNvPr>
          <p:cNvSpPr>
            <a:spLocks xmlns:a="http://schemas.openxmlformats.org/drawingml/2006/main" noGrp="1"/>
          </p:cNvSpPr>
          <p:nvPr/>
        </p:nvSpPr>
        <p:spPr>
          <a:xfrm xmlns:a="http://schemas.openxmlformats.org/drawingml/2006/main">
            <a:off x="2219325" y="6010275"/>
            <a:ext cx="7753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Authorization runs in the API before business logic and database queries.</a:t>
            </a:r>
          </a:p>
        </p:txBody>
      </p:sp>
      <p:sp>
        <p:nvSpPr>
          <p:cNvPr id="33" name="">
            <a:extLst xmlns:a="http://schemas.openxmlformats.org/drawingml/2006/main">
              <a:ext uri="{FF2B5EF4-FFF2-40B4-BE49-F238E27FC236}">
                <a16:creationId xmlns:a16="http://schemas.microsoft.com/office/drawing/2014/main" id="{3087A6E0-3912-4BE1-8AF1-ABA3C156296F}"/>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6</a:t>
            </a:r>
          </a:p>
        </p:txBody>
      </p:sp>
    </p:spTree>
    <p:extLst>
      <p:ext uri="{BB962C8B-B14F-4D97-AF65-F5344CB8AC3E}">
        <p14:creationId xmlns:p14="http://schemas.microsoft.com/office/powerpoint/2010/main" val="2477058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47CFC90-9E77-450B-B7E0-31D9BCBEBC49}"/>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396DFE32-6FCA-4D39-A041-9764174E5744}"/>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Database architecture: 21 relational tables</a:t>
            </a:r>
          </a:p>
        </p:txBody>
      </p:sp>
      <p:sp>
        <p:nvSpPr>
          <p:cNvPr id="3" name="">
            <a:extLst xmlns:a="http://schemas.openxmlformats.org/drawingml/2006/main">
              <a:ext uri="{FF2B5EF4-FFF2-40B4-BE49-F238E27FC236}">
                <a16:creationId xmlns:a16="http://schemas.microsoft.com/office/drawing/2014/main" id="{30910FDE-7F99-4937-B7E9-9E0137822733}"/>
              </a:ext>
            </a:extLst>
          </p:cNvPr>
          <p:cNvSpPr>
            <a:spLocks xmlns:a="http://schemas.openxmlformats.org/drawingml/2006/main" noGrp="1"/>
          </p:cNvSpPr>
          <p:nvPr/>
        </p:nvSpPr>
        <p:spPr>
          <a:xfrm xmlns:a="http://schemas.openxmlformats.org/drawingml/2006/main">
            <a:off x="552450" y="1676400"/>
            <a:ext cx="3333750" cy="1619250"/>
          </a:xfrm>
          <a:prstGeom xmlns:a="http://schemas.openxmlformats.org/drawingml/2006/main" prst="roundRect">
            <a:avLst>
              <a:gd name="adj" fmla="val 7059"/>
            </a:avLst>
          </a:prstGeom>
          <a:solidFill xmlns:a="http://schemas.openxmlformats.org/drawingml/2006/main">
            <a:srgbClr val="F8ECEE"/>
          </a:solidFill>
          <a:ln xmlns:a="http://schemas.openxmlformats.org/drawingml/2006/main" w="11906">
            <a:solidFill>
              <a:srgbClr val="8A1F2D"/>
            </a:solidFill>
            <a:prstDash val="solid"/>
          </a:ln>
        </p:spPr>
      </p:sp>
      <p:sp>
        <p:nvSpPr>
          <p:cNvPr id="4" name="">
            <a:extLst xmlns:a="http://schemas.openxmlformats.org/drawingml/2006/main">
              <a:ext uri="{FF2B5EF4-FFF2-40B4-BE49-F238E27FC236}">
                <a16:creationId xmlns:a16="http://schemas.microsoft.com/office/drawing/2014/main" id="{C43A82DA-530D-4157-AEEF-0DC1F43E4D5D}"/>
              </a:ext>
            </a:extLst>
          </p:cNvPr>
          <p:cNvSpPr>
            <a:spLocks xmlns:a="http://schemas.openxmlformats.org/drawingml/2006/main" noGrp="1"/>
          </p:cNvSpPr>
          <p:nvPr/>
        </p:nvSpPr>
        <p:spPr>
          <a:xfrm xmlns:a="http://schemas.openxmlformats.org/drawingml/2006/main">
            <a:off x="3333750" y="1809750"/>
            <a:ext cx="381000" cy="285750"/>
          </a:xfrm>
          <a:prstGeom xmlns:a="http://schemas.openxmlformats.org/drawingml/2006/main" prst="roundRect">
            <a:avLst>
              <a:gd name="adj" fmla="val 50000"/>
            </a:avLst>
          </a:prstGeom>
          <a:solidFill xmlns:a="http://schemas.openxmlformats.org/drawingml/2006/main">
            <a:srgbClr val="8A1F2D"/>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A921CAAC-2249-4B1E-8B97-AA94C81BEEA5}"/>
              </a:ext>
            </a:extLst>
          </p:cNvPr>
          <p:cNvSpPr>
            <a:spLocks xmlns:a="http://schemas.openxmlformats.org/drawingml/2006/main" noGrp="1"/>
          </p:cNvSpPr>
          <p:nvPr/>
        </p:nvSpPr>
        <p:spPr>
          <a:xfrm xmlns:a="http://schemas.openxmlformats.org/drawingml/2006/main">
            <a:off x="742950"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8A1F2D"/>
                </a:solidFill>
                <a:latin typeface="Calibri"/>
                <a:ea typeface="Calibri"/>
                <a:cs typeface="Calibri"/>
              </a:defRPr>
            </a:pPr>
            <a:r>
              <a:rPr sz="1425" b="1" i="0">
                <a:solidFill>
                  <a:srgbClr val="8A1F2D"/>
                </a:solidFill>
                <a:latin typeface="Calibri"/>
                <a:ea typeface="Calibri"/>
                <a:cs typeface="Calibri"/>
              </a:rPr>
              <a:t>Identity and access</a:t>
            </a:r>
          </a:p>
        </p:txBody>
      </p:sp>
      <p:sp>
        <p:nvSpPr>
          <p:cNvPr id="6" name="">
            <a:extLst xmlns:a="http://schemas.openxmlformats.org/drawingml/2006/main">
              <a:ext uri="{FF2B5EF4-FFF2-40B4-BE49-F238E27FC236}">
                <a16:creationId xmlns:a16="http://schemas.microsoft.com/office/drawing/2014/main" id="{E2B90C2E-0709-4D33-A490-6D324B433211}"/>
              </a:ext>
            </a:extLst>
          </p:cNvPr>
          <p:cNvSpPr>
            <a:spLocks xmlns:a="http://schemas.openxmlformats.org/drawingml/2006/main" noGrp="1"/>
          </p:cNvSpPr>
          <p:nvPr/>
        </p:nvSpPr>
        <p:spPr>
          <a:xfrm xmlns:a="http://schemas.openxmlformats.org/drawingml/2006/main">
            <a:off x="742950"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users, sessions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roles, permissions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user_roles, role_permissions</a:t>
            </a:r>
          </a:p>
        </p:txBody>
      </p:sp>
      <p:sp>
        <p:nvSpPr>
          <p:cNvPr id="7" name="">
            <a:extLst xmlns:a="http://schemas.openxmlformats.org/drawingml/2006/main">
              <a:ext uri="{FF2B5EF4-FFF2-40B4-BE49-F238E27FC236}">
                <a16:creationId xmlns:a16="http://schemas.microsoft.com/office/drawing/2014/main" id="{8771F4F5-BB65-4C3D-BAD3-92D5F6CA9833}"/>
              </a:ext>
            </a:extLst>
          </p:cNvPr>
          <p:cNvSpPr>
            <a:spLocks xmlns:a="http://schemas.openxmlformats.org/drawingml/2006/main" noGrp="1"/>
          </p:cNvSpPr>
          <p:nvPr/>
        </p:nvSpPr>
        <p:spPr>
          <a:xfrm xmlns:a="http://schemas.openxmlformats.org/drawingml/2006/main">
            <a:off x="4429125" y="1676400"/>
            <a:ext cx="3333750" cy="1619250"/>
          </a:xfrm>
          <a:prstGeom xmlns:a="http://schemas.openxmlformats.org/drawingml/2006/main" prst="roundRect">
            <a:avLst>
              <a:gd name="adj" fmla="val 7059"/>
            </a:avLst>
          </a:prstGeom>
          <a:solidFill xmlns:a="http://schemas.openxmlformats.org/drawingml/2006/main">
            <a:srgbClr val="EEF2F8"/>
          </a:solidFill>
          <a:ln xmlns:a="http://schemas.openxmlformats.org/drawingml/2006/main" w="11906">
            <a:solidFill>
              <a:srgbClr val="253E73"/>
            </a:solidFill>
            <a:prstDash val="solid"/>
          </a:ln>
        </p:spPr>
      </p:sp>
      <p:sp>
        <p:nvSpPr>
          <p:cNvPr id="8" name="">
            <a:extLst xmlns:a="http://schemas.openxmlformats.org/drawingml/2006/main">
              <a:ext uri="{FF2B5EF4-FFF2-40B4-BE49-F238E27FC236}">
                <a16:creationId xmlns:a16="http://schemas.microsoft.com/office/drawing/2014/main" id="{7577FD26-49F3-4054-9FA4-5AF897CCE59E}"/>
              </a:ext>
            </a:extLst>
          </p:cNvPr>
          <p:cNvSpPr>
            <a:spLocks xmlns:a="http://schemas.openxmlformats.org/drawingml/2006/main" noGrp="1"/>
          </p:cNvSpPr>
          <p:nvPr/>
        </p:nvSpPr>
        <p:spPr>
          <a:xfrm xmlns:a="http://schemas.openxmlformats.org/drawingml/2006/main">
            <a:off x="7210425" y="1809750"/>
            <a:ext cx="381000" cy="285750"/>
          </a:xfrm>
          <a:prstGeom xmlns:a="http://schemas.openxmlformats.org/drawingml/2006/main" prst="roundRect">
            <a:avLst>
              <a:gd name="adj" fmla="val 50000"/>
            </a:avLst>
          </a:prstGeom>
          <a:solidFill xmlns:a="http://schemas.openxmlformats.org/drawingml/2006/main">
            <a:srgbClr val="253E73"/>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4</a:t>
            </a:r>
          </a:p>
        </p:txBody>
      </p:sp>
      <p:sp>
        <p:nvSpPr>
          <p:cNvPr id="9" name="">
            <a:extLst xmlns:a="http://schemas.openxmlformats.org/drawingml/2006/main">
              <a:ext uri="{FF2B5EF4-FFF2-40B4-BE49-F238E27FC236}">
                <a16:creationId xmlns:a16="http://schemas.microsoft.com/office/drawing/2014/main" id="{6ED305B4-5E14-44A1-AB06-E92C1F37FF60}"/>
              </a:ext>
            </a:extLst>
          </p:cNvPr>
          <p:cNvSpPr>
            <a:spLocks xmlns:a="http://schemas.openxmlformats.org/drawingml/2006/main" noGrp="1"/>
          </p:cNvSpPr>
          <p:nvPr/>
        </p:nvSpPr>
        <p:spPr>
          <a:xfrm xmlns:a="http://schemas.openxmlformats.org/drawingml/2006/main">
            <a:off x="4619625"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253E73"/>
                </a:solidFill>
                <a:latin typeface="Calibri"/>
                <a:ea typeface="Calibri"/>
                <a:cs typeface="Calibri"/>
              </a:defRPr>
            </a:pPr>
            <a:r>
              <a:rPr sz="1425" b="1" i="0">
                <a:solidFill>
                  <a:srgbClr val="253E73"/>
                </a:solidFill>
                <a:latin typeface="Calibri"/>
                <a:ea typeface="Calibri"/>
                <a:cs typeface="Calibri"/>
              </a:rPr>
              <a:t>Donor and collection</a:t>
            </a:r>
          </a:p>
        </p:txBody>
      </p:sp>
      <p:sp>
        <p:nvSpPr>
          <p:cNvPr id="10" name="">
            <a:extLst xmlns:a="http://schemas.openxmlformats.org/drawingml/2006/main">
              <a:ext uri="{FF2B5EF4-FFF2-40B4-BE49-F238E27FC236}">
                <a16:creationId xmlns:a16="http://schemas.microsoft.com/office/drawing/2014/main" id="{BFE52B3D-5F8D-4CD7-AE28-50E3D8D4D766}"/>
              </a:ext>
            </a:extLst>
          </p:cNvPr>
          <p:cNvSpPr>
            <a:spLocks xmlns:a="http://schemas.openxmlformats.org/drawingml/2006/main" noGrp="1"/>
          </p:cNvSpPr>
          <p:nvPr/>
        </p:nvSpPr>
        <p:spPr>
          <a:xfrm xmlns:a="http://schemas.openxmlformats.org/drawingml/2006/main">
            <a:off x="4619625"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blood_groups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donors, donations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donation_centres</a:t>
            </a:r>
          </a:p>
        </p:txBody>
      </p:sp>
      <p:sp>
        <p:nvSpPr>
          <p:cNvPr id="11" name="">
            <a:extLst xmlns:a="http://schemas.openxmlformats.org/drawingml/2006/main">
              <a:ext uri="{FF2B5EF4-FFF2-40B4-BE49-F238E27FC236}">
                <a16:creationId xmlns:a16="http://schemas.microsoft.com/office/drawing/2014/main" id="{B0CA8FE7-4CD7-4018-A2D7-71A10F324870}"/>
              </a:ext>
            </a:extLst>
          </p:cNvPr>
          <p:cNvSpPr>
            <a:spLocks xmlns:a="http://schemas.openxmlformats.org/drawingml/2006/main" noGrp="1"/>
          </p:cNvSpPr>
          <p:nvPr/>
        </p:nvSpPr>
        <p:spPr>
          <a:xfrm xmlns:a="http://schemas.openxmlformats.org/drawingml/2006/main">
            <a:off x="8305800" y="1676400"/>
            <a:ext cx="3333750" cy="1619250"/>
          </a:xfrm>
          <a:prstGeom xmlns:a="http://schemas.openxmlformats.org/drawingml/2006/main" prst="roundRect">
            <a:avLst>
              <a:gd name="adj" fmla="val 7059"/>
            </a:avLst>
          </a:prstGeom>
          <a:solidFill xmlns:a="http://schemas.openxmlformats.org/drawingml/2006/main">
            <a:srgbClr val="ECF6F0"/>
          </a:solidFill>
          <a:ln xmlns:a="http://schemas.openxmlformats.org/drawingml/2006/main" w="11906">
            <a:solidFill>
              <a:srgbClr val="368A58"/>
            </a:solidFill>
            <a:prstDash val="solid"/>
          </a:ln>
        </p:spPr>
      </p:sp>
      <p:sp>
        <p:nvSpPr>
          <p:cNvPr id="12" name="">
            <a:extLst xmlns:a="http://schemas.openxmlformats.org/drawingml/2006/main">
              <a:ext uri="{FF2B5EF4-FFF2-40B4-BE49-F238E27FC236}">
                <a16:creationId xmlns:a16="http://schemas.microsoft.com/office/drawing/2014/main" id="{7642AADB-33BD-40CA-825A-E7C06F33967E}"/>
              </a:ext>
            </a:extLst>
          </p:cNvPr>
          <p:cNvSpPr>
            <a:spLocks xmlns:a="http://schemas.openxmlformats.org/drawingml/2006/main" noGrp="1"/>
          </p:cNvSpPr>
          <p:nvPr/>
        </p:nvSpPr>
        <p:spPr>
          <a:xfrm xmlns:a="http://schemas.openxmlformats.org/drawingml/2006/main">
            <a:off x="11087100" y="1809750"/>
            <a:ext cx="381000" cy="285750"/>
          </a:xfrm>
          <a:prstGeom xmlns:a="http://schemas.openxmlformats.org/drawingml/2006/main" prst="roundRect">
            <a:avLst>
              <a:gd name="adj" fmla="val 50000"/>
            </a:avLst>
          </a:prstGeom>
          <a:solidFill xmlns:a="http://schemas.openxmlformats.org/drawingml/2006/main">
            <a:srgbClr val="368A58"/>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4</a:t>
            </a:r>
          </a:p>
        </p:txBody>
      </p:sp>
      <p:sp>
        <p:nvSpPr>
          <p:cNvPr id="13" name="">
            <a:extLst xmlns:a="http://schemas.openxmlformats.org/drawingml/2006/main">
              <a:ext uri="{FF2B5EF4-FFF2-40B4-BE49-F238E27FC236}">
                <a16:creationId xmlns:a16="http://schemas.microsoft.com/office/drawing/2014/main" id="{97FA73E2-18FF-4B57-AD09-416821B57717}"/>
              </a:ext>
            </a:extLst>
          </p:cNvPr>
          <p:cNvSpPr>
            <a:spLocks xmlns:a="http://schemas.openxmlformats.org/drawingml/2006/main" noGrp="1"/>
          </p:cNvSpPr>
          <p:nvPr/>
        </p:nvSpPr>
        <p:spPr>
          <a:xfrm xmlns:a="http://schemas.openxmlformats.org/drawingml/2006/main">
            <a:off x="8496300" y="18288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368A58"/>
                </a:solidFill>
                <a:latin typeface="Calibri"/>
                <a:ea typeface="Calibri"/>
                <a:cs typeface="Calibri"/>
              </a:defRPr>
            </a:pPr>
            <a:r>
              <a:rPr sz="1425" b="1" i="0">
                <a:solidFill>
                  <a:srgbClr val="368A58"/>
                </a:solidFill>
                <a:latin typeface="Calibri"/>
                <a:ea typeface="Calibri"/>
                <a:cs typeface="Calibri"/>
              </a:rPr>
              <a:t>Inventory and demand</a:t>
            </a:r>
          </a:p>
        </p:txBody>
      </p:sp>
      <p:sp>
        <p:nvSpPr>
          <p:cNvPr id="14" name="">
            <a:extLst xmlns:a="http://schemas.openxmlformats.org/drawingml/2006/main">
              <a:ext uri="{FF2B5EF4-FFF2-40B4-BE49-F238E27FC236}">
                <a16:creationId xmlns:a16="http://schemas.microsoft.com/office/drawing/2014/main" id="{499FA1EC-1A89-4DD1-9F4B-A7ABA889EECC}"/>
              </a:ext>
            </a:extLst>
          </p:cNvPr>
          <p:cNvSpPr>
            <a:spLocks xmlns:a="http://schemas.openxmlformats.org/drawingml/2006/main" noGrp="1"/>
          </p:cNvSpPr>
          <p:nvPr/>
        </p:nvSpPr>
        <p:spPr>
          <a:xfrm xmlns:a="http://schemas.openxmlformats.org/drawingml/2006/main">
            <a:off x="8496300" y="22193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healthcare_facilities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blood_inventory</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blood_requests, demand_records</a:t>
            </a:r>
          </a:p>
        </p:txBody>
      </p:sp>
      <p:sp>
        <p:nvSpPr>
          <p:cNvPr id="15" name="">
            <a:extLst xmlns:a="http://schemas.openxmlformats.org/drawingml/2006/main">
              <a:ext uri="{FF2B5EF4-FFF2-40B4-BE49-F238E27FC236}">
                <a16:creationId xmlns:a16="http://schemas.microsoft.com/office/drawing/2014/main" id="{2FB75263-9AD1-4F9D-88C3-DE11A019B007}"/>
              </a:ext>
            </a:extLst>
          </p:cNvPr>
          <p:cNvSpPr>
            <a:spLocks xmlns:a="http://schemas.openxmlformats.org/drawingml/2006/main" noGrp="1"/>
          </p:cNvSpPr>
          <p:nvPr/>
        </p:nvSpPr>
        <p:spPr>
          <a:xfrm xmlns:a="http://schemas.openxmlformats.org/drawingml/2006/main">
            <a:off x="2266950" y="3952875"/>
            <a:ext cx="3619500" cy="1619250"/>
          </a:xfrm>
          <a:prstGeom xmlns:a="http://schemas.openxmlformats.org/drawingml/2006/main" prst="roundRect">
            <a:avLst>
              <a:gd name="adj" fmla="val 7059"/>
            </a:avLst>
          </a:prstGeom>
          <a:solidFill xmlns:a="http://schemas.openxmlformats.org/drawingml/2006/main">
            <a:srgbClr val="FBF5E6"/>
          </a:solidFill>
          <a:ln xmlns:a="http://schemas.openxmlformats.org/drawingml/2006/main" w="11906">
            <a:solidFill>
              <a:srgbClr val="C79011"/>
            </a:solidFill>
            <a:prstDash val="solid"/>
          </a:ln>
        </p:spPr>
      </p:sp>
      <p:sp>
        <p:nvSpPr>
          <p:cNvPr id="16" name="">
            <a:extLst xmlns:a="http://schemas.openxmlformats.org/drawingml/2006/main">
              <a:ext uri="{FF2B5EF4-FFF2-40B4-BE49-F238E27FC236}">
                <a16:creationId xmlns:a16="http://schemas.microsoft.com/office/drawing/2014/main" id="{1D86CEC2-0FDE-40BD-B39C-9E545FF11DD3}"/>
              </a:ext>
            </a:extLst>
          </p:cNvPr>
          <p:cNvSpPr>
            <a:spLocks xmlns:a="http://schemas.openxmlformats.org/drawingml/2006/main" noGrp="1"/>
          </p:cNvSpPr>
          <p:nvPr/>
        </p:nvSpPr>
        <p:spPr>
          <a:xfrm xmlns:a="http://schemas.openxmlformats.org/drawingml/2006/main">
            <a:off x="5334000" y="4086225"/>
            <a:ext cx="381000" cy="285750"/>
          </a:xfrm>
          <a:prstGeom xmlns:a="http://schemas.openxmlformats.org/drawingml/2006/main" prst="roundRect">
            <a:avLst>
              <a:gd name="adj" fmla="val 50000"/>
            </a:avLst>
          </a:prstGeom>
          <a:solidFill xmlns:a="http://schemas.openxmlformats.org/drawingml/2006/main">
            <a:srgbClr val="C79011"/>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5</a:t>
            </a:r>
          </a:p>
        </p:txBody>
      </p:sp>
      <p:sp>
        <p:nvSpPr>
          <p:cNvPr id="17" name="">
            <a:extLst xmlns:a="http://schemas.openxmlformats.org/drawingml/2006/main">
              <a:ext uri="{FF2B5EF4-FFF2-40B4-BE49-F238E27FC236}">
                <a16:creationId xmlns:a16="http://schemas.microsoft.com/office/drawing/2014/main" id="{68F4BA41-9327-497D-9968-6C009E9367C5}"/>
              </a:ext>
            </a:extLst>
          </p:cNvPr>
          <p:cNvSpPr>
            <a:spLocks xmlns:a="http://schemas.openxmlformats.org/drawingml/2006/main" noGrp="1"/>
          </p:cNvSpPr>
          <p:nvPr/>
        </p:nvSpPr>
        <p:spPr>
          <a:xfrm xmlns:a="http://schemas.openxmlformats.org/drawingml/2006/main">
            <a:off x="2457450" y="41052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C79011"/>
                </a:solidFill>
                <a:latin typeface="Calibri"/>
                <a:ea typeface="Calibri"/>
                <a:cs typeface="Calibri"/>
              </a:defRPr>
            </a:pPr>
            <a:r>
              <a:rPr sz="1425" b="1" i="0">
                <a:solidFill>
                  <a:srgbClr val="C79011"/>
                </a:solidFill>
                <a:latin typeface="Calibri"/>
                <a:ea typeface="Calibri"/>
                <a:cs typeface="Calibri"/>
              </a:rPr>
              <a:t>Forecasting and alerts</a:t>
            </a:r>
          </a:p>
        </p:txBody>
      </p:sp>
      <p:sp>
        <p:nvSpPr>
          <p:cNvPr id="18" name="">
            <a:extLst xmlns:a="http://schemas.openxmlformats.org/drawingml/2006/main">
              <a:ext uri="{FF2B5EF4-FFF2-40B4-BE49-F238E27FC236}">
                <a16:creationId xmlns:a16="http://schemas.microsoft.com/office/drawing/2014/main" id="{8DC0CB8C-9C26-491F-9616-3B89A6071A7B}"/>
              </a:ext>
            </a:extLst>
          </p:cNvPr>
          <p:cNvSpPr>
            <a:spLocks xmlns:a="http://schemas.openxmlformats.org/drawingml/2006/main" noGrp="1"/>
          </p:cNvSpPr>
          <p:nvPr/>
        </p:nvSpPr>
        <p:spPr>
          <a:xfrm xmlns:a="http://schemas.openxmlformats.org/drawingml/2006/main">
            <a:off x="2457450" y="4495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ai_predictions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ai_analysis_runs, ai_analysis_settings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shortage_alerts, inventory_alerts</a:t>
            </a:r>
          </a:p>
        </p:txBody>
      </p:sp>
      <p:sp>
        <p:nvSpPr>
          <p:cNvPr id="19" name="">
            <a:extLst xmlns:a="http://schemas.openxmlformats.org/drawingml/2006/main">
              <a:ext uri="{FF2B5EF4-FFF2-40B4-BE49-F238E27FC236}">
                <a16:creationId xmlns:a16="http://schemas.microsoft.com/office/drawing/2014/main" id="{500CB9C6-F382-4359-AFC5-C4C897D76A1E}"/>
              </a:ext>
            </a:extLst>
          </p:cNvPr>
          <p:cNvSpPr>
            <a:spLocks xmlns:a="http://schemas.openxmlformats.org/drawingml/2006/main" noGrp="1"/>
          </p:cNvSpPr>
          <p:nvPr/>
        </p:nvSpPr>
        <p:spPr>
          <a:xfrm xmlns:a="http://schemas.openxmlformats.org/drawingml/2006/main">
            <a:off x="6305550" y="3952875"/>
            <a:ext cx="3619500" cy="1619250"/>
          </a:xfrm>
          <a:prstGeom xmlns:a="http://schemas.openxmlformats.org/drawingml/2006/main" prst="roundRect">
            <a:avLst>
              <a:gd name="adj" fmla="val 7059"/>
            </a:avLst>
          </a:prstGeom>
          <a:solidFill xmlns:a="http://schemas.openxmlformats.org/drawingml/2006/main">
            <a:srgbClr val="F5F6F8"/>
          </a:solidFill>
          <a:ln xmlns:a="http://schemas.openxmlformats.org/drawingml/2006/main" w="11906">
            <a:solidFill>
              <a:srgbClr val="656B74"/>
            </a:solidFill>
            <a:prstDash val="solid"/>
          </a:ln>
        </p:spPr>
      </p:sp>
      <p:sp>
        <p:nvSpPr>
          <p:cNvPr id="20" name="">
            <a:extLst xmlns:a="http://schemas.openxmlformats.org/drawingml/2006/main">
              <a:ext uri="{FF2B5EF4-FFF2-40B4-BE49-F238E27FC236}">
                <a16:creationId xmlns:a16="http://schemas.microsoft.com/office/drawing/2014/main" id="{ECF3BACD-212E-4E2B-8E8B-9EDF26D6DDA2}"/>
              </a:ext>
            </a:extLst>
          </p:cNvPr>
          <p:cNvSpPr>
            <a:spLocks xmlns:a="http://schemas.openxmlformats.org/drawingml/2006/main" noGrp="1"/>
          </p:cNvSpPr>
          <p:nvPr/>
        </p:nvSpPr>
        <p:spPr>
          <a:xfrm xmlns:a="http://schemas.openxmlformats.org/drawingml/2006/main">
            <a:off x="9372600" y="4086225"/>
            <a:ext cx="381000" cy="285750"/>
          </a:xfrm>
          <a:prstGeom xmlns:a="http://schemas.openxmlformats.org/drawingml/2006/main" prst="roundRect">
            <a:avLst>
              <a:gd name="adj" fmla="val 50000"/>
            </a:avLst>
          </a:prstGeom>
          <a:solidFill xmlns:a="http://schemas.openxmlformats.org/drawingml/2006/main">
            <a:srgbClr val="656B74"/>
          </a:solidFill>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Calibri"/>
                <a:ea typeface="Calibri"/>
                <a:cs typeface="Calibri"/>
              </a:defRPr>
            </a:pPr>
            <a:r>
              <a:rPr sz="1050" b="1">
                <a:solidFill>
                  <a:srgbClr val="FFFFFF"/>
                </a:solidFill>
                <a:latin typeface="Calibri"/>
                <a:ea typeface="Calibri"/>
                <a:cs typeface="Calibri"/>
              </a:rPr>
              <a:t>2</a:t>
            </a:r>
          </a:p>
        </p:txBody>
      </p:sp>
      <p:sp>
        <p:nvSpPr>
          <p:cNvPr id="21" name="">
            <a:extLst xmlns:a="http://schemas.openxmlformats.org/drawingml/2006/main">
              <a:ext uri="{FF2B5EF4-FFF2-40B4-BE49-F238E27FC236}">
                <a16:creationId xmlns:a16="http://schemas.microsoft.com/office/drawing/2014/main" id="{8D9FC6BC-F085-4B31-BCCC-DE45A6970E32}"/>
              </a:ext>
            </a:extLst>
          </p:cNvPr>
          <p:cNvSpPr>
            <a:spLocks xmlns:a="http://schemas.openxmlformats.org/drawingml/2006/main" noGrp="1"/>
          </p:cNvSpPr>
          <p:nvPr/>
        </p:nvSpPr>
        <p:spPr>
          <a:xfrm xmlns:a="http://schemas.openxmlformats.org/drawingml/2006/main">
            <a:off x="6496050" y="41052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656B74"/>
                </a:solidFill>
                <a:latin typeface="Calibri"/>
                <a:ea typeface="Calibri"/>
                <a:cs typeface="Calibri"/>
              </a:defRPr>
            </a:pPr>
            <a:r>
              <a:rPr sz="1425" b="1" i="0">
                <a:solidFill>
                  <a:srgbClr val="656B74"/>
                </a:solidFill>
                <a:latin typeface="Calibri"/>
                <a:ea typeface="Calibri"/>
                <a:cs typeface="Calibri"/>
              </a:rPr>
              <a:t>Notifications and audit</a:t>
            </a:r>
          </a:p>
        </p:txBody>
      </p:sp>
      <p:sp>
        <p:nvSpPr>
          <p:cNvPr id="22" name="">
            <a:extLst xmlns:a="http://schemas.openxmlformats.org/drawingml/2006/main">
              <a:ext uri="{FF2B5EF4-FFF2-40B4-BE49-F238E27FC236}">
                <a16:creationId xmlns:a16="http://schemas.microsoft.com/office/drawing/2014/main" id="{244C6630-607B-4BB4-BC15-BE00A7607681}"/>
              </a:ext>
            </a:extLst>
          </p:cNvPr>
          <p:cNvSpPr>
            <a:spLocks xmlns:a="http://schemas.openxmlformats.org/drawingml/2006/main" noGrp="1"/>
          </p:cNvSpPr>
          <p:nvPr/>
        </p:nvSpPr>
        <p:spPr>
          <a:xfrm xmlns:a="http://schemas.openxmlformats.org/drawingml/2006/main">
            <a:off x="6496050" y="44958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notifications</a:t>
            </a:r>
          </a:p>
          <a:p xmlns:a="http://schemas.openxmlformats.org/drawingml/2006/main">
            <a:pPr algn="l">
              <a:defRPr sz="1200" b="0" i="0">
                <a:solidFill>
                  <a:srgbClr val="30343B"/>
                </a:solidFill>
                <a:latin typeface="Calibri"/>
                <a:ea typeface="Calibri"/>
                <a:cs typeface="Calibri"/>
              </a:defRPr>
            </a:pPr>
            <a:r>
              <a:rPr sz="1200" b="0" i="0">
                <a:solidFill>
                  <a:srgbClr val="30343B"/>
                </a:solidFill>
                <a:latin typeface="Calibri"/>
                <a:ea typeface="Calibri"/>
                <a:cs typeface="Calibri"/>
              </a:rPr>
              <a:t>activity_logs</a:t>
            </a:r>
          </a:p>
        </p:txBody>
      </p:sp>
      <p:cxnSp>
        <p:nvCxnSpPr>
          <p:cNvPr id="51" name=""/>
          <p:cNvCxnSpPr>
            <a:stCxn xmlns:a="http://schemas.openxmlformats.org/drawingml/2006/main" id="3" idx="3"/>
            <a:endCxn xmlns:a="http://schemas.openxmlformats.org/drawingml/2006/main" id="7" idx="1"/>
          </p:cNvCxnSpPr>
          <p:nvPr/>
        </p:nvCxnSpPr>
        <p:spPr>
          <a:xfrm xmlns:a="http://schemas.openxmlformats.org/drawingml/2006/main">
            <a:off x="3886200" y="2486025"/>
            <a:ext cx="542925" cy="0"/>
          </a:xfrm>
          <a:prstGeom xmlns:a="http://schemas.openxmlformats.org/drawingml/2006/main" prst="straightConnector1">
            <a:avLst/>
          </a:prstGeom>
          <a:ln xmlns:a="http://schemas.openxmlformats.org/drawingml/2006/main" w="14288">
            <a:solidFill>
              <a:srgbClr val="8A1F2D"/>
            </a:solidFill>
            <a:prstDash val="solid"/>
            <a:headEnd type="triangle" w="sm" len="sm"/>
          </a:ln>
        </p:spPr>
      </p:cxnSp>
      <p:cxnSp>
        <p:nvCxnSpPr>
          <p:cNvPr id="52" name=""/>
          <p:cNvCxnSpPr>
            <a:stCxn xmlns:a="http://schemas.openxmlformats.org/drawingml/2006/main" id="7" idx="3"/>
            <a:endCxn xmlns:a="http://schemas.openxmlformats.org/drawingml/2006/main" id="11" idx="1"/>
          </p:cNvCxnSpPr>
          <p:nvPr/>
        </p:nvCxnSpPr>
        <p:spPr>
          <a:xfrm xmlns:a="http://schemas.openxmlformats.org/drawingml/2006/main">
            <a:off x="7762875" y="2486025"/>
            <a:ext cx="542925" cy="0"/>
          </a:xfrm>
          <a:prstGeom xmlns:a="http://schemas.openxmlformats.org/drawingml/2006/main" prst="straightConnector1">
            <a:avLst/>
          </a:prstGeom>
          <a:ln xmlns:a="http://schemas.openxmlformats.org/drawingml/2006/main" w="14288">
            <a:solidFill>
              <a:srgbClr val="253E73"/>
            </a:solidFill>
            <a:prstDash val="solid"/>
            <a:headEnd type="triangle" w="sm" len="sm"/>
          </a:ln>
        </p:spPr>
      </p:cxnSp>
      <p:cxnSp>
        <p:nvCxnSpPr>
          <p:cNvPr id="53" name=""/>
          <p:cNvCxnSpPr>
            <a:stCxn xmlns:a="http://schemas.openxmlformats.org/drawingml/2006/main" id="11" idx="2"/>
            <a:endCxn xmlns:a="http://schemas.openxmlformats.org/drawingml/2006/main" id="15" idx="0"/>
          </p:cNvCxnSpPr>
          <p:nvPr/>
        </p:nvCxnSpPr>
        <p:spPr>
          <a:xfrm xmlns:a="http://schemas.openxmlformats.org/drawingml/2006/main" flipH="1">
            <a:off x="4076700" y="3295650"/>
            <a:ext cx="5895975" cy="657225"/>
          </a:xfrm>
          <a:prstGeom xmlns:a="http://schemas.openxmlformats.org/drawingml/2006/main" prst="bentConnector4">
            <a:avLst>
              <a:gd name="adj1" fmla="val 0"/>
              <a:gd name="adj2" fmla="val 50000"/>
            </a:avLst>
          </a:prstGeom>
          <a:ln xmlns:a="http://schemas.openxmlformats.org/drawingml/2006/main" w="14288">
            <a:solidFill>
              <a:srgbClr val="368A58"/>
            </a:solidFill>
            <a:prstDash val="solid"/>
            <a:headEnd type="triangle" w="sm" len="sm"/>
          </a:ln>
        </p:spPr>
      </p:cxnSp>
      <p:cxnSp>
        <p:nvCxnSpPr>
          <p:cNvPr id="54" name=""/>
          <p:cNvCxnSpPr>
            <a:stCxn xmlns:a="http://schemas.openxmlformats.org/drawingml/2006/main" id="15" idx="3"/>
            <a:endCxn xmlns:a="http://schemas.openxmlformats.org/drawingml/2006/main" id="19" idx="1"/>
          </p:cNvCxnSpPr>
          <p:nvPr/>
        </p:nvCxnSpPr>
        <p:spPr>
          <a:xfrm xmlns:a="http://schemas.openxmlformats.org/drawingml/2006/main">
            <a:off x="5886450" y="4762500"/>
            <a:ext cx="419100" cy="0"/>
          </a:xfrm>
          <a:prstGeom xmlns:a="http://schemas.openxmlformats.org/drawingml/2006/main" prst="straightConnector1">
            <a:avLst/>
          </a:prstGeom>
          <a:ln xmlns:a="http://schemas.openxmlformats.org/drawingml/2006/main" w="14288">
            <a:solidFill>
              <a:srgbClr val="C79011"/>
            </a:solidFill>
            <a:prstDash val="solid"/>
            <a:headEnd type="triangle" w="sm" len="sm"/>
          </a:ln>
        </p:spPr>
      </p:cxnSp>
      <p:sp>
        <p:nvSpPr>
          <p:cNvPr id="27" name="">
            <a:extLst xmlns:a="http://schemas.openxmlformats.org/drawingml/2006/main">
              <a:ext uri="{FF2B5EF4-FFF2-40B4-BE49-F238E27FC236}">
                <a16:creationId xmlns:a16="http://schemas.microsoft.com/office/drawing/2014/main" id="{FFE46261-3BFA-4C97-9861-6C62CB84D1FB}"/>
              </a:ext>
            </a:extLst>
          </p:cNvPr>
          <p:cNvSpPr>
            <a:spLocks xmlns:a="http://schemas.openxmlformats.org/drawingml/2006/main" noGrp="1"/>
          </p:cNvSpPr>
          <p:nvPr/>
        </p:nvSpPr>
        <p:spPr>
          <a:xfrm xmlns:a="http://schemas.openxmlformats.org/drawingml/2006/main">
            <a:off x="866775" y="5924550"/>
            <a:ext cx="10458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Foreign keys preserve the path from users, donors and facility requests to inventory, forecasts, alerts, messages and audit history.</a:t>
            </a:r>
          </a:p>
        </p:txBody>
      </p:sp>
      <p:sp>
        <p:nvSpPr>
          <p:cNvPr id="28" name="">
            <a:extLst xmlns:a="http://schemas.openxmlformats.org/drawingml/2006/main">
              <a:ext uri="{FF2B5EF4-FFF2-40B4-BE49-F238E27FC236}">
                <a16:creationId xmlns:a16="http://schemas.microsoft.com/office/drawing/2014/main" id="{ADE26B30-82F8-4591-A76A-E5E16B486572}"/>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7</a:t>
            </a:r>
          </a:p>
        </p:txBody>
      </p:sp>
    </p:spTree>
    <p:extLst>
      <p:ext uri="{BB962C8B-B14F-4D97-AF65-F5344CB8AC3E}">
        <p14:creationId xmlns:p14="http://schemas.microsoft.com/office/powerpoint/2010/main" val="16819679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9E148BD-B281-463F-BAFE-4BB464E3A5C0}"/>
              </a:ext>
            </a:extLst>
          </p:cNvPr>
          <p:cNvSpPr>
            <a:spLocks xmlns:a="http://schemas.openxmlformats.org/drawingml/2006/main" noGrp="1"/>
          </p:cNvSpPr>
          <p:nvPr/>
        </p:nvSpPr>
        <p:spPr>
          <a:xfrm xmlns:a="http://schemas.openxmlformats.org/drawingml/2006/main">
            <a:off x="552450" y="371475"/>
            <a:ext cx="723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i="0">
                <a:solidFill>
                  <a:srgbClr val="8A1F2D"/>
                </a:solidFill>
                <a:latin typeface="Calibri"/>
                <a:ea typeface="Calibri"/>
                <a:cs typeface="Calibri"/>
              </a:defRPr>
            </a:pPr>
            <a:r>
              <a:rPr sz="900" b="1" i="0">
                <a:solidFill>
                  <a:srgbClr val="8A1F2D"/>
                </a:solidFill>
                <a:latin typeface="Calibri"/>
                <a:ea typeface="Calibri"/>
                <a:cs typeface="Calibri"/>
              </a:rPr>
              <a:t>SYSTEM DESIGN</a:t>
            </a:r>
          </a:p>
        </p:txBody>
      </p:sp>
      <p:sp>
        <p:nvSpPr>
          <p:cNvPr id="2" name="">
            <a:extLst xmlns:a="http://schemas.openxmlformats.org/drawingml/2006/main">
              <a:ext uri="{FF2B5EF4-FFF2-40B4-BE49-F238E27FC236}">
                <a16:creationId xmlns:a16="http://schemas.microsoft.com/office/drawing/2014/main" id="{36B9C035-F4DE-47D4-B554-CA4CA8B5E9B3}"/>
              </a:ext>
            </a:extLst>
          </p:cNvPr>
          <p:cNvSpPr>
            <a:spLocks xmlns:a="http://schemas.openxmlformats.org/drawingml/2006/main" noGrp="1"/>
          </p:cNvSpPr>
          <p:nvPr/>
        </p:nvSpPr>
        <p:spPr>
          <a:xfrm xmlns:a="http://schemas.openxmlformats.org/drawingml/2006/main">
            <a:off x="552450" y="619125"/>
            <a:ext cx="11068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i="0">
                <a:solidFill>
                  <a:srgbClr val="181B20"/>
                </a:solidFill>
                <a:latin typeface="Calibri"/>
                <a:ea typeface="Calibri"/>
                <a:cs typeface="Calibri"/>
              </a:defRPr>
            </a:pPr>
            <a:r>
              <a:rPr sz="2550" b="1" i="0">
                <a:solidFill>
                  <a:srgbClr val="181B20"/>
                </a:solidFill>
                <a:latin typeface="Calibri"/>
                <a:ea typeface="Calibri"/>
                <a:cs typeface="Calibri"/>
              </a:rPr>
              <a:t>Operational data flow</a:t>
            </a:r>
          </a:p>
        </p:txBody>
      </p:sp>
      <p:sp>
        <p:nvSpPr>
          <p:cNvPr id="3" name="">
            <a:extLst xmlns:a="http://schemas.openxmlformats.org/drawingml/2006/main">
              <a:ext uri="{FF2B5EF4-FFF2-40B4-BE49-F238E27FC236}">
                <a16:creationId xmlns:a16="http://schemas.microsoft.com/office/drawing/2014/main" id="{7DA6EC20-A19B-4B57-860F-9985A65E95EA}"/>
              </a:ext>
            </a:extLst>
          </p:cNvPr>
          <p:cNvSpPr>
            <a:spLocks xmlns:a="http://schemas.openxmlformats.org/drawingml/2006/main" noGrp="1"/>
          </p:cNvSpPr>
          <p:nvPr/>
        </p:nvSpPr>
        <p:spPr>
          <a:xfrm xmlns:a="http://schemas.openxmlformats.org/drawingml/2006/main">
            <a:off x="590550" y="2000250"/>
            <a:ext cx="1809750" cy="2286000"/>
          </a:xfrm>
          <a:prstGeom xmlns:a="http://schemas.openxmlformats.org/drawingml/2006/main" prst="roundRect">
            <a:avLst>
              <a:gd name="adj" fmla="val 6316"/>
            </a:avLst>
          </a:prstGeom>
          <a:solidFill xmlns:a="http://schemas.openxmlformats.org/drawingml/2006/main">
            <a:srgbClr val="F8ECEE"/>
          </a:solidFill>
          <a:ln xmlns:a="http://schemas.openxmlformats.org/drawingml/2006/main" w="14288">
            <a:solidFill>
              <a:srgbClr val="8A1F2D"/>
            </a:solidFill>
            <a:prstDash val="solid"/>
          </a:ln>
        </p:spPr>
      </p:sp>
      <p:sp>
        <p:nvSpPr>
          <p:cNvPr id="4" name="">
            <a:extLst xmlns:a="http://schemas.openxmlformats.org/drawingml/2006/main">
              <a:ext uri="{FF2B5EF4-FFF2-40B4-BE49-F238E27FC236}">
                <a16:creationId xmlns:a16="http://schemas.microsoft.com/office/drawing/2014/main" id="{77CC24B2-C740-4E3B-835A-92FDBB011A21}"/>
              </a:ext>
            </a:extLst>
          </p:cNvPr>
          <p:cNvSpPr>
            <a:spLocks xmlns:a="http://schemas.openxmlformats.org/drawingml/2006/main" noGrp="1"/>
          </p:cNvSpPr>
          <p:nvPr/>
        </p:nvSpPr>
        <p:spPr>
          <a:xfrm xmlns:a="http://schemas.openxmlformats.org/drawingml/2006/main">
            <a:off x="7620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8A1F2D"/>
                </a:solidFill>
                <a:latin typeface="Calibri"/>
                <a:ea typeface="Calibri"/>
                <a:cs typeface="Calibri"/>
              </a:defRPr>
            </a:pPr>
            <a:r>
              <a:rPr sz="1425" b="1" i="0">
                <a:solidFill>
                  <a:srgbClr val="8A1F2D"/>
                </a:solidFill>
                <a:latin typeface="Calibri"/>
                <a:ea typeface="Calibri"/>
                <a:cs typeface="Calibri"/>
              </a:rPr>
              <a:t>1  Capture events</a:t>
            </a:r>
          </a:p>
        </p:txBody>
      </p:sp>
      <p:sp>
        <p:nvSpPr>
          <p:cNvPr id="5" name="">
            <a:extLst xmlns:a="http://schemas.openxmlformats.org/drawingml/2006/main">
              <a:ext uri="{FF2B5EF4-FFF2-40B4-BE49-F238E27FC236}">
                <a16:creationId xmlns:a16="http://schemas.microsoft.com/office/drawing/2014/main" id="{9F91B545-30DE-4ACD-873E-C77BAC0BF14E}"/>
              </a:ext>
            </a:extLst>
          </p:cNvPr>
          <p:cNvSpPr>
            <a:spLocks xmlns:a="http://schemas.openxmlformats.org/drawingml/2006/main" noGrp="1"/>
          </p:cNvSpPr>
          <p:nvPr/>
        </p:nvSpPr>
        <p:spPr>
          <a:xfrm xmlns:a="http://schemas.openxmlformats.org/drawingml/2006/main">
            <a:off x="7810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Donations, hospital requests and inventory status changes</a:t>
            </a:r>
          </a:p>
        </p:txBody>
      </p:sp>
      <p:sp>
        <p:nvSpPr>
          <p:cNvPr id="6" name="">
            <a:extLst xmlns:a="http://schemas.openxmlformats.org/drawingml/2006/main">
              <a:ext uri="{FF2B5EF4-FFF2-40B4-BE49-F238E27FC236}">
                <a16:creationId xmlns:a16="http://schemas.microsoft.com/office/drawing/2014/main" id="{51A22659-029E-4AA4-92A1-C7CF20F0DCA8}"/>
              </a:ext>
            </a:extLst>
          </p:cNvPr>
          <p:cNvSpPr>
            <a:spLocks xmlns:a="http://schemas.openxmlformats.org/drawingml/2006/main" noGrp="1"/>
          </p:cNvSpPr>
          <p:nvPr/>
        </p:nvSpPr>
        <p:spPr>
          <a:xfrm xmlns:a="http://schemas.openxmlformats.org/drawingml/2006/main">
            <a:off x="2895600" y="2000250"/>
            <a:ext cx="1809750" cy="2286000"/>
          </a:xfrm>
          <a:prstGeom xmlns:a="http://schemas.openxmlformats.org/drawingml/2006/main" prst="roundRect">
            <a:avLst>
              <a:gd name="adj" fmla="val 6316"/>
            </a:avLst>
          </a:prstGeom>
          <a:solidFill xmlns:a="http://schemas.openxmlformats.org/drawingml/2006/main">
            <a:srgbClr val="EEF2F8"/>
          </a:solidFill>
          <a:ln xmlns:a="http://schemas.openxmlformats.org/drawingml/2006/main" w="14288">
            <a:solidFill>
              <a:srgbClr val="253E73"/>
            </a:solidFill>
            <a:prstDash val="solid"/>
          </a:ln>
        </p:spPr>
      </p:sp>
      <p:sp>
        <p:nvSpPr>
          <p:cNvPr id="7" name="">
            <a:extLst xmlns:a="http://schemas.openxmlformats.org/drawingml/2006/main">
              <a:ext uri="{FF2B5EF4-FFF2-40B4-BE49-F238E27FC236}">
                <a16:creationId xmlns:a16="http://schemas.microsoft.com/office/drawing/2014/main" id="{C0A318F5-A3E6-4876-95B8-E66B2435D6F4}"/>
              </a:ext>
            </a:extLst>
          </p:cNvPr>
          <p:cNvSpPr>
            <a:spLocks xmlns:a="http://schemas.openxmlformats.org/drawingml/2006/main" noGrp="1"/>
          </p:cNvSpPr>
          <p:nvPr/>
        </p:nvSpPr>
        <p:spPr>
          <a:xfrm xmlns:a="http://schemas.openxmlformats.org/drawingml/2006/main">
            <a:off x="306705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253E73"/>
                </a:solidFill>
                <a:latin typeface="Calibri"/>
                <a:ea typeface="Calibri"/>
                <a:cs typeface="Calibri"/>
              </a:defRPr>
            </a:pPr>
            <a:r>
              <a:rPr sz="1425" b="1" i="0">
                <a:solidFill>
                  <a:srgbClr val="253E73"/>
                </a:solidFill>
                <a:latin typeface="Calibri"/>
                <a:ea typeface="Calibri"/>
                <a:cs typeface="Calibri"/>
              </a:rPr>
              <a:t>2  Persist records</a:t>
            </a:r>
          </a:p>
        </p:txBody>
      </p:sp>
      <p:sp>
        <p:nvSpPr>
          <p:cNvPr id="8" name="">
            <a:extLst xmlns:a="http://schemas.openxmlformats.org/drawingml/2006/main">
              <a:ext uri="{FF2B5EF4-FFF2-40B4-BE49-F238E27FC236}">
                <a16:creationId xmlns:a16="http://schemas.microsoft.com/office/drawing/2014/main" id="{2EC8E407-6E71-45DB-B37F-C0CF47382F82}"/>
              </a:ext>
            </a:extLst>
          </p:cNvPr>
          <p:cNvSpPr>
            <a:spLocks xmlns:a="http://schemas.openxmlformats.org/drawingml/2006/main" noGrp="1"/>
          </p:cNvSpPr>
          <p:nvPr/>
        </p:nvSpPr>
        <p:spPr>
          <a:xfrm xmlns:a="http://schemas.openxmlformats.org/drawingml/2006/main">
            <a:off x="308610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MariaDB stores inventory units, demand history and user activity</a:t>
            </a:r>
          </a:p>
        </p:txBody>
      </p:sp>
      <p:sp>
        <p:nvSpPr>
          <p:cNvPr id="9" name="">
            <a:extLst xmlns:a="http://schemas.openxmlformats.org/drawingml/2006/main">
              <a:ext uri="{FF2B5EF4-FFF2-40B4-BE49-F238E27FC236}">
                <a16:creationId xmlns:a16="http://schemas.microsoft.com/office/drawing/2014/main" id="{D7792ACF-7CD0-49B7-BF73-C849808CC2F0}"/>
              </a:ext>
            </a:extLst>
          </p:cNvPr>
          <p:cNvSpPr>
            <a:spLocks xmlns:a="http://schemas.openxmlformats.org/drawingml/2006/main" noGrp="1"/>
          </p:cNvSpPr>
          <p:nvPr/>
        </p:nvSpPr>
        <p:spPr>
          <a:xfrm xmlns:a="http://schemas.openxmlformats.org/drawingml/2006/main">
            <a:off x="5200650" y="2000250"/>
            <a:ext cx="1809750" cy="2286000"/>
          </a:xfrm>
          <a:prstGeom xmlns:a="http://schemas.openxmlformats.org/drawingml/2006/main" prst="roundRect">
            <a:avLst>
              <a:gd name="adj" fmla="val 6316"/>
            </a:avLst>
          </a:prstGeom>
          <a:solidFill xmlns:a="http://schemas.openxmlformats.org/drawingml/2006/main">
            <a:srgbClr val="FBF5E6"/>
          </a:solidFill>
          <a:ln xmlns:a="http://schemas.openxmlformats.org/drawingml/2006/main" w="14288">
            <a:solidFill>
              <a:srgbClr val="C79011"/>
            </a:solidFill>
            <a:prstDash val="solid"/>
          </a:ln>
        </p:spPr>
      </p:sp>
      <p:sp>
        <p:nvSpPr>
          <p:cNvPr id="10" name="">
            <a:extLst xmlns:a="http://schemas.openxmlformats.org/drawingml/2006/main">
              <a:ext uri="{FF2B5EF4-FFF2-40B4-BE49-F238E27FC236}">
                <a16:creationId xmlns:a16="http://schemas.microsoft.com/office/drawing/2014/main" id="{72858BF2-1E37-463D-A3B6-06D21EFB275A}"/>
              </a:ext>
            </a:extLst>
          </p:cNvPr>
          <p:cNvSpPr>
            <a:spLocks xmlns:a="http://schemas.openxmlformats.org/drawingml/2006/main" noGrp="1"/>
          </p:cNvSpPr>
          <p:nvPr/>
        </p:nvSpPr>
        <p:spPr>
          <a:xfrm xmlns:a="http://schemas.openxmlformats.org/drawingml/2006/main">
            <a:off x="53721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C79011"/>
                </a:solidFill>
                <a:latin typeface="Calibri"/>
                <a:ea typeface="Calibri"/>
                <a:cs typeface="Calibri"/>
              </a:defRPr>
            </a:pPr>
            <a:r>
              <a:rPr sz="1425" b="1" i="0">
                <a:solidFill>
                  <a:srgbClr val="C79011"/>
                </a:solidFill>
                <a:latin typeface="Calibri"/>
                <a:ea typeface="Calibri"/>
                <a:cs typeface="Calibri"/>
              </a:rPr>
              <a:t>3  Generate forecast</a:t>
            </a:r>
          </a:p>
        </p:txBody>
      </p:sp>
      <p:sp>
        <p:nvSpPr>
          <p:cNvPr id="11" name="">
            <a:extLst xmlns:a="http://schemas.openxmlformats.org/drawingml/2006/main">
              <a:ext uri="{FF2B5EF4-FFF2-40B4-BE49-F238E27FC236}">
                <a16:creationId xmlns:a16="http://schemas.microsoft.com/office/drawing/2014/main" id="{5D6A2F24-CD03-43A3-95CA-FBAEDD809CEC}"/>
              </a:ext>
            </a:extLst>
          </p:cNvPr>
          <p:cNvSpPr>
            <a:spLocks xmlns:a="http://schemas.openxmlformats.org/drawingml/2006/main" noGrp="1"/>
          </p:cNvSpPr>
          <p:nvPr/>
        </p:nvSpPr>
        <p:spPr>
          <a:xfrm xmlns:a="http://schemas.openxmlformats.org/drawingml/2006/main">
            <a:off x="53911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The API sends selected demand data to the FastAPI service</a:t>
            </a:r>
          </a:p>
        </p:txBody>
      </p:sp>
      <p:sp>
        <p:nvSpPr>
          <p:cNvPr id="12" name="">
            <a:extLst xmlns:a="http://schemas.openxmlformats.org/drawingml/2006/main">
              <a:ext uri="{FF2B5EF4-FFF2-40B4-BE49-F238E27FC236}">
                <a16:creationId xmlns:a16="http://schemas.microsoft.com/office/drawing/2014/main" id="{4637385D-9A50-4414-AB6B-2D0648A9B71A}"/>
              </a:ext>
            </a:extLst>
          </p:cNvPr>
          <p:cNvSpPr>
            <a:spLocks xmlns:a="http://schemas.openxmlformats.org/drawingml/2006/main" noGrp="1"/>
          </p:cNvSpPr>
          <p:nvPr/>
        </p:nvSpPr>
        <p:spPr>
          <a:xfrm xmlns:a="http://schemas.openxmlformats.org/drawingml/2006/main">
            <a:off x="7505700" y="2000250"/>
            <a:ext cx="1809750" cy="2286000"/>
          </a:xfrm>
          <a:prstGeom xmlns:a="http://schemas.openxmlformats.org/drawingml/2006/main" prst="roundRect">
            <a:avLst>
              <a:gd name="adj" fmla="val 6316"/>
            </a:avLst>
          </a:prstGeom>
          <a:solidFill xmlns:a="http://schemas.openxmlformats.org/drawingml/2006/main">
            <a:srgbClr val="ECF6F0"/>
          </a:solidFill>
          <a:ln xmlns:a="http://schemas.openxmlformats.org/drawingml/2006/main" w="14288">
            <a:solidFill>
              <a:srgbClr val="368A58"/>
            </a:solidFill>
            <a:prstDash val="solid"/>
          </a:ln>
        </p:spPr>
      </p:sp>
      <p:sp>
        <p:nvSpPr>
          <p:cNvPr id="13" name="">
            <a:extLst xmlns:a="http://schemas.openxmlformats.org/drawingml/2006/main">
              <a:ext uri="{FF2B5EF4-FFF2-40B4-BE49-F238E27FC236}">
                <a16:creationId xmlns:a16="http://schemas.microsoft.com/office/drawing/2014/main" id="{3DBD725A-E2AF-4B5B-AF51-F745A90E1C30}"/>
              </a:ext>
            </a:extLst>
          </p:cNvPr>
          <p:cNvSpPr>
            <a:spLocks xmlns:a="http://schemas.openxmlformats.org/drawingml/2006/main" noGrp="1"/>
          </p:cNvSpPr>
          <p:nvPr/>
        </p:nvSpPr>
        <p:spPr>
          <a:xfrm xmlns:a="http://schemas.openxmlformats.org/drawingml/2006/main">
            <a:off x="767715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368A58"/>
                </a:solidFill>
                <a:latin typeface="Calibri"/>
                <a:ea typeface="Calibri"/>
                <a:cs typeface="Calibri"/>
              </a:defRPr>
            </a:pPr>
            <a:r>
              <a:rPr sz="1425" b="1" i="0">
                <a:solidFill>
                  <a:srgbClr val="368A58"/>
                </a:solidFill>
                <a:latin typeface="Calibri"/>
                <a:ea typeface="Calibri"/>
                <a:cs typeface="Calibri"/>
              </a:rPr>
              <a:t>4  Evaluate supply</a:t>
            </a:r>
          </a:p>
        </p:txBody>
      </p:sp>
      <p:sp>
        <p:nvSpPr>
          <p:cNvPr id="14" name="">
            <a:extLst xmlns:a="http://schemas.openxmlformats.org/drawingml/2006/main">
              <a:ext uri="{FF2B5EF4-FFF2-40B4-BE49-F238E27FC236}">
                <a16:creationId xmlns:a16="http://schemas.microsoft.com/office/drawing/2014/main" id="{29C11BB2-FC05-4E8A-9084-4799797D68C9}"/>
              </a:ext>
            </a:extLst>
          </p:cNvPr>
          <p:cNvSpPr>
            <a:spLocks xmlns:a="http://schemas.openxmlformats.org/drawingml/2006/main" noGrp="1"/>
          </p:cNvSpPr>
          <p:nvPr/>
        </p:nvSpPr>
        <p:spPr>
          <a:xfrm xmlns:a="http://schemas.openxmlformats.org/drawingml/2006/main">
            <a:off x="769620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The API compares forecast demand with available, valid stock</a:t>
            </a:r>
          </a:p>
        </p:txBody>
      </p:sp>
      <p:sp>
        <p:nvSpPr>
          <p:cNvPr id="15" name="">
            <a:extLst xmlns:a="http://schemas.openxmlformats.org/drawingml/2006/main">
              <a:ext uri="{FF2B5EF4-FFF2-40B4-BE49-F238E27FC236}">
                <a16:creationId xmlns:a16="http://schemas.microsoft.com/office/drawing/2014/main" id="{A35278DC-0A06-40CD-A939-3BC70FE5A206}"/>
              </a:ext>
            </a:extLst>
          </p:cNvPr>
          <p:cNvSpPr>
            <a:spLocks xmlns:a="http://schemas.openxmlformats.org/drawingml/2006/main" noGrp="1"/>
          </p:cNvSpPr>
          <p:nvPr/>
        </p:nvSpPr>
        <p:spPr>
          <a:xfrm xmlns:a="http://schemas.openxmlformats.org/drawingml/2006/main">
            <a:off x="9810750" y="2000250"/>
            <a:ext cx="1809750" cy="2286000"/>
          </a:xfrm>
          <a:prstGeom xmlns:a="http://schemas.openxmlformats.org/drawingml/2006/main" prst="roundRect">
            <a:avLst>
              <a:gd name="adj" fmla="val 6316"/>
            </a:avLst>
          </a:prstGeom>
          <a:solidFill xmlns:a="http://schemas.openxmlformats.org/drawingml/2006/main">
            <a:srgbClr val="F5F6F8"/>
          </a:solidFill>
          <a:ln xmlns:a="http://schemas.openxmlformats.org/drawingml/2006/main" w="14288">
            <a:solidFill>
              <a:srgbClr val="656B74"/>
            </a:solidFill>
            <a:prstDash val="solid"/>
          </a:ln>
        </p:spPr>
      </p:sp>
      <p:sp>
        <p:nvSpPr>
          <p:cNvPr id="16" name="">
            <a:extLst xmlns:a="http://schemas.openxmlformats.org/drawingml/2006/main">
              <a:ext uri="{FF2B5EF4-FFF2-40B4-BE49-F238E27FC236}">
                <a16:creationId xmlns:a16="http://schemas.microsoft.com/office/drawing/2014/main" id="{4035F3BC-D364-427D-91EE-281288D60DF1}"/>
              </a:ext>
            </a:extLst>
          </p:cNvPr>
          <p:cNvSpPr>
            <a:spLocks xmlns:a="http://schemas.openxmlformats.org/drawingml/2006/main" noGrp="1"/>
          </p:cNvSpPr>
          <p:nvPr/>
        </p:nvSpPr>
        <p:spPr>
          <a:xfrm xmlns:a="http://schemas.openxmlformats.org/drawingml/2006/main">
            <a:off x="9982200" y="2219325"/>
            <a:ext cx="1466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i="0">
                <a:solidFill>
                  <a:srgbClr val="656B74"/>
                </a:solidFill>
                <a:latin typeface="Calibri"/>
                <a:ea typeface="Calibri"/>
                <a:cs typeface="Calibri"/>
              </a:defRPr>
            </a:pPr>
            <a:r>
              <a:rPr sz="1425" b="1" i="0">
                <a:solidFill>
                  <a:srgbClr val="656B74"/>
                </a:solidFill>
                <a:latin typeface="Calibri"/>
                <a:ea typeface="Calibri"/>
                <a:cs typeface="Calibri"/>
              </a:rPr>
              <a:t>5  Act and report</a:t>
            </a:r>
          </a:p>
        </p:txBody>
      </p:sp>
      <p:sp>
        <p:nvSpPr>
          <p:cNvPr id="17" name="">
            <a:extLst xmlns:a="http://schemas.openxmlformats.org/drawingml/2006/main">
              <a:ext uri="{FF2B5EF4-FFF2-40B4-BE49-F238E27FC236}">
                <a16:creationId xmlns:a16="http://schemas.microsoft.com/office/drawing/2014/main" id="{51F8D4D7-D89A-4944-949D-2E39CEAC8BE0}"/>
              </a:ext>
            </a:extLst>
          </p:cNvPr>
          <p:cNvSpPr>
            <a:spLocks xmlns:a="http://schemas.openxmlformats.org/drawingml/2006/main" noGrp="1"/>
          </p:cNvSpPr>
          <p:nvPr/>
        </p:nvSpPr>
        <p:spPr>
          <a:xfrm xmlns:a="http://schemas.openxmlformats.org/drawingml/2006/main">
            <a:off x="10001250" y="2990850"/>
            <a:ext cx="142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i="0">
                <a:solidFill>
                  <a:srgbClr val="30343B"/>
                </a:solidFill>
                <a:latin typeface="Calibri"/>
                <a:ea typeface="Calibri"/>
                <a:cs typeface="Calibri"/>
              </a:defRPr>
            </a:pPr>
            <a:r>
              <a:rPr sz="1200" b="0" i="0">
                <a:solidFill>
                  <a:srgbClr val="30343B"/>
                </a:solidFill>
                <a:latin typeface="Calibri"/>
                <a:ea typeface="Calibri"/>
                <a:cs typeface="Calibri"/>
              </a:rPr>
              <a:t>Alerts, donor messages, dashboards and reports use stored results</a:t>
            </a:r>
          </a:p>
        </p:txBody>
      </p:sp>
      <p:cxnSp>
        <p:nvCxnSpPr>
          <p:cNvPr id="46" name=""/>
          <p:cNvCxnSpPr>
            <a:stCxn xmlns:a="http://schemas.openxmlformats.org/drawingml/2006/main" id="3" idx="3"/>
            <a:endCxn xmlns:a="http://schemas.openxmlformats.org/drawingml/2006/main" id="6" idx="1"/>
          </p:cNvCxnSpPr>
          <p:nvPr/>
        </p:nvCxnSpPr>
        <p:spPr>
          <a:xfrm xmlns:a="http://schemas.openxmlformats.org/drawingml/2006/main">
            <a:off x="2400300" y="3143250"/>
            <a:ext cx="495300" cy="0"/>
          </a:xfrm>
          <a:prstGeom xmlns:a="http://schemas.openxmlformats.org/drawingml/2006/main" prst="straightConnector1">
            <a:avLst/>
          </a:prstGeom>
          <a:ln xmlns:a="http://schemas.openxmlformats.org/drawingml/2006/main" w="16669">
            <a:solidFill>
              <a:srgbClr val="959BA4"/>
            </a:solidFill>
            <a:prstDash val="solid"/>
            <a:headEnd type="triangle" w="sm" len="sm"/>
          </a:ln>
        </p:spPr>
      </p:cxn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a:off x="4705350" y="3143250"/>
            <a:ext cx="495300" cy="0"/>
          </a:xfrm>
          <a:prstGeom xmlns:a="http://schemas.openxmlformats.org/drawingml/2006/main" prst="straightConnector1">
            <a:avLst/>
          </a:prstGeom>
          <a:ln xmlns:a="http://schemas.openxmlformats.org/drawingml/2006/main" w="16669">
            <a:solidFill>
              <a:srgbClr val="959BA4"/>
            </a:solidFill>
            <a:prstDash val="solid"/>
            <a:headEnd type="triangle" w="sm" len="sm"/>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7010400" y="3143250"/>
            <a:ext cx="495300" cy="0"/>
          </a:xfrm>
          <a:prstGeom xmlns:a="http://schemas.openxmlformats.org/drawingml/2006/main" prst="straightConnector1">
            <a:avLst/>
          </a:prstGeom>
          <a:ln xmlns:a="http://schemas.openxmlformats.org/drawingml/2006/main" w="16669">
            <a:solidFill>
              <a:srgbClr val="959BA4"/>
            </a:solidFill>
            <a:prstDash val="solid"/>
            <a:headEnd type="triangle" w="sm" len="sm"/>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9315450" y="3143250"/>
            <a:ext cx="495300" cy="0"/>
          </a:xfrm>
          <a:prstGeom xmlns:a="http://schemas.openxmlformats.org/drawingml/2006/main" prst="straightConnector1">
            <a:avLst/>
          </a:prstGeom>
          <a:ln xmlns:a="http://schemas.openxmlformats.org/drawingml/2006/main" w="16669">
            <a:solidFill>
              <a:srgbClr val="959BA4"/>
            </a:solidFill>
            <a:prstDash val="solid"/>
            <a:headEnd type="triangle" w="sm" len="sm"/>
          </a:ln>
        </p:spPr>
      </p:cxnSp>
      <p:sp>
        <p:nvSpPr>
          <p:cNvPr id="22" name="">
            <a:extLst xmlns:a="http://schemas.openxmlformats.org/drawingml/2006/main">
              <a:ext uri="{FF2B5EF4-FFF2-40B4-BE49-F238E27FC236}">
                <a16:creationId xmlns:a16="http://schemas.microsoft.com/office/drawing/2014/main" id="{4D33ECE3-BF36-4469-A935-C3909A16F7CD}"/>
              </a:ext>
            </a:extLst>
          </p:cNvPr>
          <p:cNvSpPr>
            <a:spLocks xmlns:a="http://schemas.openxmlformats.org/drawingml/2006/main" noGrp="1"/>
          </p:cNvSpPr>
          <p:nvPr/>
        </p:nvSpPr>
        <p:spPr>
          <a:xfrm xmlns:a="http://schemas.openxmlformats.org/drawingml/2006/main">
            <a:off x="1238250" y="4905375"/>
            <a:ext cx="9715500" cy="838200"/>
          </a:xfrm>
          <a:prstGeom xmlns:a="http://schemas.openxmlformats.org/drawingml/2006/main" prst="roundRect">
            <a:avLst>
              <a:gd name="adj" fmla="val 11364"/>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C3E8A982-7850-43DD-84BB-621208DA35B4}"/>
              </a:ext>
            </a:extLst>
          </p:cNvPr>
          <p:cNvSpPr>
            <a:spLocks xmlns:a="http://schemas.openxmlformats.org/drawingml/2006/main" noGrp="1"/>
          </p:cNvSpPr>
          <p:nvPr/>
        </p:nvSpPr>
        <p:spPr>
          <a:xfrm xmlns:a="http://schemas.openxmlformats.org/drawingml/2006/main">
            <a:off x="1495425" y="51054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2279"/>
          </a:bodyPr>
          <a:lstStyle xmlns:a="http://schemas.openxmlformats.org/drawingml/2006/main"/>
          <a:p xmlns:a="http://schemas.openxmlformats.org/drawingml/2006/main">
            <a:pPr algn="l">
              <a:defRPr sz="1275" b="1" i="0">
                <a:solidFill>
                  <a:srgbClr val="8A1F2D"/>
                </a:solidFill>
                <a:latin typeface="Calibri"/>
                <a:ea typeface="Calibri"/>
                <a:cs typeface="Calibri"/>
              </a:defRPr>
            </a:pPr>
            <a:r>
              <a:rPr sz="1275" b="1" i="0">
                <a:solidFill>
                  <a:srgbClr val="8A1F2D"/>
                </a:solidFill>
                <a:latin typeface="Calibri"/>
                <a:ea typeface="Calibri"/>
                <a:cs typeface="Calibri"/>
              </a:rPr>
              <a:t>Controls applied throughout</a:t>
            </a:r>
          </a:p>
        </p:txBody>
      </p:sp>
      <p:sp>
        <p:nvSpPr>
          <p:cNvPr id="24" name="">
            <a:extLst xmlns:a="http://schemas.openxmlformats.org/drawingml/2006/main">
              <a:ext uri="{FF2B5EF4-FFF2-40B4-BE49-F238E27FC236}">
                <a16:creationId xmlns:a16="http://schemas.microsoft.com/office/drawing/2014/main" id="{93D9D910-89A8-4E45-87B9-613D9159461F}"/>
              </a:ext>
            </a:extLst>
          </p:cNvPr>
          <p:cNvSpPr>
            <a:spLocks xmlns:a="http://schemas.openxmlformats.org/drawingml/2006/main" noGrp="1"/>
          </p:cNvSpPr>
          <p:nvPr/>
        </p:nvSpPr>
        <p:spPr>
          <a:xfrm xmlns:a="http://schemas.openxmlformats.org/drawingml/2006/main">
            <a:off x="3762375" y="51054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253E73"/>
                </a:solidFill>
                <a:latin typeface="Calibri"/>
                <a:ea typeface="Calibri"/>
                <a:cs typeface="Calibri"/>
              </a:defRPr>
            </a:pPr>
            <a:r>
              <a:rPr sz="1125" b="1" i="0">
                <a:solidFill>
                  <a:srgbClr val="253E73"/>
                </a:solidFill>
                <a:latin typeface="Calibri"/>
                <a:ea typeface="Calibri"/>
                <a:cs typeface="Calibri"/>
              </a:rPr>
              <a:t>Permission checks and facility scope</a:t>
            </a:r>
          </a:p>
        </p:txBody>
      </p:sp>
      <p:sp>
        <p:nvSpPr>
          <p:cNvPr id="25" name="">
            <a:extLst xmlns:a="http://schemas.openxmlformats.org/drawingml/2006/main">
              <a:ext uri="{FF2B5EF4-FFF2-40B4-BE49-F238E27FC236}">
                <a16:creationId xmlns:a16="http://schemas.microsoft.com/office/drawing/2014/main" id="{F9EF62DF-7859-48B5-9BF7-0FF1BD3F428C}"/>
              </a:ext>
            </a:extLst>
          </p:cNvPr>
          <p:cNvSpPr>
            <a:spLocks xmlns:a="http://schemas.openxmlformats.org/drawingml/2006/main" noGrp="1"/>
          </p:cNvSpPr>
          <p:nvPr/>
        </p:nvSpPr>
        <p:spPr>
          <a:xfrm xmlns:a="http://schemas.openxmlformats.org/drawingml/2006/main">
            <a:off x="6191250" y="5105400"/>
            <a:ext cx="1952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368A58"/>
                </a:solidFill>
                <a:latin typeface="Calibri"/>
                <a:ea typeface="Calibri"/>
                <a:cs typeface="Calibri"/>
              </a:defRPr>
            </a:pPr>
            <a:r>
              <a:rPr sz="1125" b="1" i="0">
                <a:solidFill>
                  <a:srgbClr val="368A58"/>
                </a:solidFill>
                <a:latin typeface="Calibri"/>
                <a:ea typeface="Calibri"/>
                <a:cs typeface="Calibri"/>
              </a:rPr>
              <a:t>Expiry and status rules</a:t>
            </a:r>
          </a:p>
        </p:txBody>
      </p:sp>
      <p:sp>
        <p:nvSpPr>
          <p:cNvPr id="26" name="">
            <a:extLst xmlns:a="http://schemas.openxmlformats.org/drawingml/2006/main">
              <a:ext uri="{FF2B5EF4-FFF2-40B4-BE49-F238E27FC236}">
                <a16:creationId xmlns:a16="http://schemas.microsoft.com/office/drawing/2014/main" id="{87375138-40F2-46F5-96A7-F99F898D12C6}"/>
              </a:ext>
            </a:extLst>
          </p:cNvPr>
          <p:cNvSpPr>
            <a:spLocks xmlns:a="http://schemas.openxmlformats.org/drawingml/2006/main" noGrp="1"/>
          </p:cNvSpPr>
          <p:nvPr/>
        </p:nvSpPr>
        <p:spPr>
          <a:xfrm xmlns:a="http://schemas.openxmlformats.org/drawingml/2006/main">
            <a:off x="8362950" y="51054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656B74"/>
                </a:solidFill>
                <a:latin typeface="Calibri"/>
                <a:ea typeface="Calibri"/>
                <a:cs typeface="Calibri"/>
              </a:defRPr>
            </a:pPr>
            <a:r>
              <a:rPr sz="1125" b="1" i="0">
                <a:solidFill>
                  <a:srgbClr val="656B74"/>
                </a:solidFill>
                <a:latin typeface="Calibri"/>
                <a:ea typeface="Calibri"/>
                <a:cs typeface="Calibri"/>
              </a:rPr>
              <a:t>Activity logs and notification history</a:t>
            </a:r>
          </a:p>
        </p:txBody>
      </p:sp>
      <p:sp>
        <p:nvSpPr>
          <p:cNvPr id="27" name="">
            <a:extLst xmlns:a="http://schemas.openxmlformats.org/drawingml/2006/main">
              <a:ext uri="{FF2B5EF4-FFF2-40B4-BE49-F238E27FC236}">
                <a16:creationId xmlns:a16="http://schemas.microsoft.com/office/drawing/2014/main" id="{0BC38499-0E5C-4589-AE57-5D46B8AE3ABF}"/>
              </a:ext>
            </a:extLst>
          </p:cNvPr>
          <p:cNvSpPr>
            <a:spLocks xmlns:a="http://schemas.openxmlformats.org/drawingml/2006/main" noGrp="1"/>
          </p:cNvSpPr>
          <p:nvPr/>
        </p:nvSpPr>
        <p:spPr>
          <a:xfrm xmlns:a="http://schemas.openxmlformats.org/drawingml/2006/main">
            <a:off x="1762125" y="5981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6B7078"/>
                </a:solidFill>
                <a:latin typeface="Calibri"/>
                <a:ea typeface="Calibri"/>
                <a:cs typeface="Calibri"/>
              </a:defRPr>
            </a:pPr>
            <a:r>
              <a:rPr sz="1200" b="0" i="0">
                <a:solidFill>
                  <a:srgbClr val="6B7078"/>
                </a:solidFill>
                <a:latin typeface="Calibri"/>
                <a:ea typeface="Calibri"/>
                <a:cs typeface="Calibri"/>
              </a:rPr>
              <a:t>The AI service predicts demand. The API decides what the system stores, exposes and sends.</a:t>
            </a:r>
          </a:p>
        </p:txBody>
      </p:sp>
      <p:sp>
        <p:nvSpPr>
          <p:cNvPr id="28" name="">
            <a:extLst xmlns:a="http://schemas.openxmlformats.org/drawingml/2006/main">
              <a:ext uri="{FF2B5EF4-FFF2-40B4-BE49-F238E27FC236}">
                <a16:creationId xmlns:a16="http://schemas.microsoft.com/office/drawing/2014/main" id="{0EDD10AD-3A44-4784-BCBC-F4DB5570AAEA}"/>
              </a:ext>
            </a:extLst>
          </p:cNvPr>
          <p:cNvSpPr>
            <a:spLocks xmlns:a="http://schemas.openxmlformats.org/drawingml/2006/main" noGrp="1"/>
          </p:cNvSpPr>
          <p:nvPr/>
        </p:nvSpPr>
        <p:spPr>
          <a:xfrm xmlns:a="http://schemas.openxmlformats.org/drawingml/2006/main">
            <a:off x="11506200" y="64865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825" b="0" i="0">
                <a:solidFill>
                  <a:srgbClr val="9A9DA3"/>
                </a:solidFill>
                <a:latin typeface="Calibri"/>
                <a:ea typeface="Calibri"/>
                <a:cs typeface="Calibri"/>
              </a:defRPr>
            </a:pPr>
            <a:r>
              <a:rPr sz="825" b="0" i="0">
                <a:solidFill>
                  <a:srgbClr val="9A9DA3"/>
                </a:solidFill>
                <a:latin typeface="Calibri"/>
                <a:ea typeface="Calibri"/>
                <a:cs typeface="Calibri"/>
              </a:rPr>
              <a:t>8</a:t>
            </a:r>
          </a:p>
        </p:txBody>
      </p:sp>
    </p:spTree>
    <p:extLst>
      <p:ext uri="{BB962C8B-B14F-4D97-AF65-F5344CB8AC3E}">
        <p14:creationId xmlns:p14="http://schemas.microsoft.com/office/powerpoint/2010/main" val="1698475038"/>
      </p:ext>
    </p:extLst>
  </p:cSld>
</p:sld>
</file>

<file path=ppt/slides/slide9.xml><?xml version="1.0" encoding="utf-8"?>
<p:sld xmlns:p="http://schemas.openxmlformats.org/presentationml/2006/main">
  <p:cSld>
    <p:bg>
      <p:bgPr>
        <a:solidFill xmlns:a="http://schemas.openxmlformats.org/drawingml/2006/main">
          <a:srgbClr val="2E4374"/>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A2EFD7-1B90-4539-A6F5-3B66C15D95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2E4374"/>
          </a:solidFill>
        </p:spPr>
      </p:sp>
      <p:sp>
        <p:nvSpPr>
          <p:cNvPr id="3" name="Text 1">
            <a:extLst xmlns:a="http://schemas.openxmlformats.org/drawingml/2006/main">
              <a:ext uri="{FF2B5EF4-FFF2-40B4-BE49-F238E27FC236}">
                <a16:creationId xmlns:a16="http://schemas.microsoft.com/office/drawing/2014/main" id="{C9FFA643-0411-4D51-A859-B22A545065B3}"/>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B5860B"/>
                </a:solidFill>
                <a:latin typeface="Calibri"/>
                <a:ea typeface="Calibri"/>
                <a:cs typeface="Calibri"/>
              </a:rPr>
              <a:t>ARTIFICIAL INTELLIGENCE</a:t>
            </a:r>
            <a:endParaRPr sz="1200"/>
          </a:p>
        </p:txBody>
      </p:sp>
      <p:sp>
        <p:nvSpPr>
          <p:cNvPr id="4" name="Text 2">
            <a:extLst xmlns:a="http://schemas.openxmlformats.org/drawingml/2006/main">
              <a:ext uri="{FF2B5EF4-FFF2-40B4-BE49-F238E27FC236}">
                <a16:creationId xmlns:a16="http://schemas.microsoft.com/office/drawing/2014/main" id="{E207D553-C591-47ED-B3B4-C1A9A4EC5AC4}"/>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The AI forecasting pipeline actually runs</a:t>
            </a:r>
            <a:endParaRPr sz="3000"/>
          </a:p>
        </p:txBody>
      </p:sp>
      <p:sp>
        <p:nvSpPr>
          <p:cNvPr id="5" name="Text 3">
            <a:extLst xmlns:a="http://schemas.openxmlformats.org/drawingml/2006/main">
              <a:ext uri="{FF2B5EF4-FFF2-40B4-BE49-F238E27FC236}">
                <a16:creationId xmlns:a16="http://schemas.microsoft.com/office/drawing/2014/main" id="{00A438A0-FC2D-4AB1-9C6D-A73AD9BD7672}"/>
              </a:ext>
            </a:extLst>
          </p:cNvPr>
          <p:cNvSpPr>
            <a:spLocks xmlns:a="http://schemas.openxmlformats.org/drawingml/2006/main" noGrp="1"/>
          </p:cNvSpPr>
          <p:nvPr/>
        </p:nvSpPr>
        <p:spPr>
          <a:xfrm xmlns:a="http://schemas.openxmlformats.org/drawingml/2006/main">
            <a:off x="548640" y="1371600"/>
            <a:ext cx="603504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0000"/>
              </a:lnSpc>
              <a:buNone/>
            </a:pPr>
            <a:r>
              <a:rPr sz="1300">
                <a:solidFill>
                  <a:srgbClr val="CFD8EA"/>
                </a:solidFill>
                <a:latin typeface="Calibri"/>
                <a:ea typeface="Calibri"/>
                <a:cs typeface="Calibri"/>
              </a:rPr>
              <a:t>Prototype trained on an illustrative 60-day usage series for blood group O+ (pending authorised NBTS historical data), then backtested and used to forecast 7 days forward.</a:t>
            </a:r>
            <a:endParaRPr sz="1300"/>
          </a:p>
        </p:txBody>
      </p:sp>
      <p:sp>
        <p:nvSpPr>
          <p:cNvPr id="6" name="Text 4">
            <a:extLst xmlns:a="http://schemas.openxmlformats.org/drawingml/2006/main">
              <a:ext uri="{FF2B5EF4-FFF2-40B4-BE49-F238E27FC236}">
                <a16:creationId xmlns:a16="http://schemas.microsoft.com/office/drawing/2014/main" id="{A47299AD-5479-4405-8B96-5EE1145193E8}"/>
              </a:ext>
            </a:extLst>
          </p:cNvPr>
          <p:cNvSpPr>
            <a:spLocks xmlns:a="http://schemas.openxmlformats.org/drawingml/2006/main" noGrp="1"/>
          </p:cNvSpPr>
          <p:nvPr/>
        </p:nvSpPr>
        <p:spPr>
          <a:xfrm xmlns:a="http://schemas.openxmlformats.org/drawingml/2006/main">
            <a:off x="548640" y="242316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2.95</a:t>
            </a:r>
            <a:endParaRPr sz="3400"/>
          </a:p>
        </p:txBody>
      </p:sp>
      <p:sp>
        <p:nvSpPr>
          <p:cNvPr id="7" name="Text 5">
            <a:extLst xmlns:a="http://schemas.openxmlformats.org/drawingml/2006/main">
              <a:ext uri="{FF2B5EF4-FFF2-40B4-BE49-F238E27FC236}">
                <a16:creationId xmlns:a16="http://schemas.microsoft.com/office/drawing/2014/main" id="{EB4D1F5C-758C-4CBB-A57E-92AEC9F8B345}"/>
              </a:ext>
            </a:extLst>
          </p:cNvPr>
          <p:cNvSpPr>
            <a:spLocks xmlns:a="http://schemas.openxmlformats.org/drawingml/2006/main" noGrp="1"/>
          </p:cNvSpPr>
          <p:nvPr/>
        </p:nvSpPr>
        <p:spPr>
          <a:xfrm xmlns:a="http://schemas.openxmlformats.org/drawingml/2006/main">
            <a:off x="2423160" y="253288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units/day backtest MAE</a:t>
            </a:r>
            <a:endParaRPr sz="1300"/>
          </a:p>
        </p:txBody>
      </p:sp>
      <p:sp>
        <p:nvSpPr>
          <p:cNvPr id="8" name="Text 6">
            <a:extLst xmlns:a="http://schemas.openxmlformats.org/drawingml/2006/main">
              <a:ext uri="{FF2B5EF4-FFF2-40B4-BE49-F238E27FC236}">
                <a16:creationId xmlns:a16="http://schemas.microsoft.com/office/drawing/2014/main" id="{0CA4CEC8-A258-4A63-B166-9B3C8B80BB73}"/>
              </a:ext>
            </a:extLst>
          </p:cNvPr>
          <p:cNvSpPr>
            <a:spLocks xmlns:a="http://schemas.openxmlformats.org/drawingml/2006/main" noGrp="1"/>
          </p:cNvSpPr>
          <p:nvPr/>
        </p:nvSpPr>
        <p:spPr>
          <a:xfrm xmlns:a="http://schemas.openxmlformats.org/drawingml/2006/main">
            <a:off x="548640" y="347472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149</a:t>
            </a:r>
            <a:endParaRPr sz="3400"/>
          </a:p>
        </p:txBody>
      </p:sp>
      <p:sp>
        <p:nvSpPr>
          <p:cNvPr id="9" name="Text 7">
            <a:extLst xmlns:a="http://schemas.openxmlformats.org/drawingml/2006/main">
              <a:ext uri="{FF2B5EF4-FFF2-40B4-BE49-F238E27FC236}">
                <a16:creationId xmlns:a16="http://schemas.microsoft.com/office/drawing/2014/main" id="{C4113A14-B21B-4110-8737-14F40E6C6505}"/>
              </a:ext>
            </a:extLst>
          </p:cNvPr>
          <p:cNvSpPr>
            <a:spLocks xmlns:a="http://schemas.openxmlformats.org/drawingml/2006/main" noGrp="1"/>
          </p:cNvSpPr>
          <p:nvPr/>
        </p:nvSpPr>
        <p:spPr>
          <a:xfrm xmlns:a="http://schemas.openxmlformats.org/drawingml/2006/main">
            <a:off x="2423160" y="358444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units forecast, next 7 days</a:t>
            </a:r>
            <a:endParaRPr sz="1300"/>
          </a:p>
        </p:txBody>
      </p:sp>
      <p:sp>
        <p:nvSpPr>
          <p:cNvPr id="10" name="Text 8">
            <a:extLst xmlns:a="http://schemas.openxmlformats.org/drawingml/2006/main">
              <a:ext uri="{FF2B5EF4-FFF2-40B4-BE49-F238E27FC236}">
                <a16:creationId xmlns:a16="http://schemas.microsoft.com/office/drawing/2014/main" id="{5B01E9FD-680F-47BD-A1ED-42C71381320A}"/>
              </a:ext>
            </a:extLst>
          </p:cNvPr>
          <p:cNvSpPr>
            <a:spLocks xmlns:a="http://schemas.openxmlformats.org/drawingml/2006/main" noGrp="1"/>
          </p:cNvSpPr>
          <p:nvPr/>
        </p:nvSpPr>
        <p:spPr>
          <a:xfrm xmlns:a="http://schemas.openxmlformats.org/drawingml/2006/main">
            <a:off x="548640" y="4526280"/>
            <a:ext cx="18288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400" b="1">
                <a:solidFill>
                  <a:srgbClr val="B5860B"/>
                </a:solidFill>
                <a:latin typeface="Cambria"/>
                <a:ea typeface="Cambria"/>
                <a:cs typeface="Cambria"/>
              </a:rPr>
              <a:t>TRUE</a:t>
            </a:r>
            <a:endParaRPr sz="3400"/>
          </a:p>
        </p:txBody>
      </p:sp>
      <p:sp>
        <p:nvSpPr>
          <p:cNvPr id="11" name="Text 9">
            <a:extLst xmlns:a="http://schemas.openxmlformats.org/drawingml/2006/main">
              <a:ext uri="{FF2B5EF4-FFF2-40B4-BE49-F238E27FC236}">
                <a16:creationId xmlns:a16="http://schemas.microsoft.com/office/drawing/2014/main" id="{F54415F8-86AA-478B-9925-E6D3C0E2B5A0}"/>
              </a:ext>
            </a:extLst>
          </p:cNvPr>
          <p:cNvSpPr>
            <a:spLocks xmlns:a="http://schemas.openxmlformats.org/drawingml/2006/main" noGrp="1"/>
          </p:cNvSpPr>
          <p:nvPr/>
        </p:nvSpPr>
        <p:spPr>
          <a:xfrm xmlns:a="http://schemas.openxmlformats.org/drawingml/2006/main">
            <a:off x="2423160" y="4636008"/>
            <a:ext cx="402336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shortage alert triggered</a:t>
            </a:r>
            <a:endParaRPr sz="1300"/>
          </a:p>
        </p:txBody>
      </p:sp>
      <p:sp>
        <p:nvSpPr>
          <p:cNvPr id="12" name="Shape 10">
            <a:extLst xmlns:a="http://schemas.openxmlformats.org/drawingml/2006/main">
              <a:ext uri="{FF2B5EF4-FFF2-40B4-BE49-F238E27FC236}">
                <a16:creationId xmlns:a16="http://schemas.microsoft.com/office/drawing/2014/main" id="{CDA06ECD-C7D7-4B78-9313-D68A5A011941}"/>
              </a:ext>
            </a:extLst>
          </p:cNvPr>
          <p:cNvSpPr>
            <a:spLocks xmlns:a="http://schemas.openxmlformats.org/drawingml/2006/main" noGrp="1"/>
          </p:cNvSpPr>
          <p:nvPr/>
        </p:nvSpPr>
        <p:spPr>
          <a:xfrm xmlns:a="http://schemas.openxmlformats.org/drawingml/2006/main">
            <a:off x="6903720" y="1417320"/>
            <a:ext cx="4754880" cy="4754880"/>
          </a:xfrm>
          <a:prstGeom xmlns:a="http://schemas.openxmlformats.org/drawingml/2006/main" prst="roundRect">
            <a:avLst>
              <a:gd name="adj" fmla="val 1923"/>
            </a:avLst>
          </a:prstGeom>
          <a:solidFill xmlns:a="http://schemas.openxmlformats.org/drawingml/2006/main">
            <a:srgbClr val="FFFFFF"/>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4c6fc1c6f04240c4"/>
          <a:stretch xmlns:a="http://schemas.openxmlformats.org/drawingml/2006/main">
            <a:fillRect l="0" t="0" r="0" b="0"/>
          </a:stretch>
        </p:blipFill>
        <p:spPr>
          <a:xfrm xmlns:a="http://schemas.openxmlformats.org/drawingml/2006/main">
            <a:off x="7086600" y="2148840"/>
            <a:ext cx="4389120" cy="2304288"/>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DC35EAB3-136D-4056-BB32-566C416967E9}"/>
              </a:ext>
            </a:extLst>
          </p:cNvPr>
          <p:cNvSpPr>
            <a:spLocks xmlns:a="http://schemas.openxmlformats.org/drawingml/2006/main" noGrp="1"/>
          </p:cNvSpPr>
          <p:nvPr/>
        </p:nvSpPr>
        <p:spPr>
          <a:xfrm xmlns:a="http://schemas.openxmlformats.org/drawingml/2006/main">
            <a:off x="7086600" y="5394960"/>
            <a:ext cx="438912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5B5B5B"/>
                </a:solidFill>
                <a:latin typeface="Calibri"/>
                <a:ea typeface="Calibri"/>
                <a:cs typeface="Calibri"/>
              </a:rPr>
              <a:t>Figure: AI demand forecast vs. historical usage — Blood Group O+</a:t>
            </a:r>
            <a:endParaRPr sz="1050"/>
          </a:p>
        </p:txBody>
      </p:sp>
      <p:sp>
        <p:nvSpPr>
          <p:cNvPr id="15" name="Text 12">
            <a:extLst xmlns:a="http://schemas.openxmlformats.org/drawingml/2006/main">
              <a:ext uri="{FF2B5EF4-FFF2-40B4-BE49-F238E27FC236}">
                <a16:creationId xmlns:a16="http://schemas.microsoft.com/office/drawing/2014/main" id="{5C2011D1-3DFE-409B-BA2A-300566C7CBF4}"/>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9</a:t>
            </a:r>
            <a:endParaRPr sz="1000"/>
          </a:p>
        </p:txBody>
      </p:sp>
    </p:spTree>
    <p:extLst>
      <p:ext uri="{BB962C8B-B14F-4D97-AF65-F5344CB8AC3E}">
        <p14:creationId xmlns:p14="http://schemas.microsoft.com/office/powerpoint/2010/main" val="18516948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2D0B75-B77F-4A47-B4DB-36E5B358A495}"/>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LIVE DEPLOYMENT</a:t>
            </a:r>
            <a:endParaRPr sz="1200"/>
          </a:p>
        </p:txBody>
      </p:sp>
      <p:sp>
        <p:nvSpPr>
          <p:cNvPr id="3" name="Text 1">
            <a:extLst xmlns:a="http://schemas.openxmlformats.org/drawingml/2006/main">
              <a:ext uri="{FF2B5EF4-FFF2-40B4-BE49-F238E27FC236}">
                <a16:creationId xmlns:a16="http://schemas.microsoft.com/office/drawing/2014/main" id="{2CB574F1-62CD-4405-B0B7-B6FD2E2D8059}"/>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Deployed and working</a:t>
            </a:r>
            <a:endParaRPr sz="3000"/>
          </a:p>
        </p:txBody>
      </p:sp>
      <p:sp>
        <p:nvSpPr>
          <p:cNvPr id="4" name="Text 2">
            <a:extLst xmlns:a="http://schemas.openxmlformats.org/drawingml/2006/main">
              <a:ext uri="{FF2B5EF4-FFF2-40B4-BE49-F238E27FC236}">
                <a16:creationId xmlns:a16="http://schemas.microsoft.com/office/drawing/2014/main" id="{9326D15E-9E57-4558-AC14-70B13200EE95}"/>
              </a:ext>
            </a:extLst>
          </p:cNvPr>
          <p:cNvSpPr>
            <a:spLocks xmlns:a="http://schemas.openxmlformats.org/drawingml/2006/main" noGrp="1"/>
          </p:cNvSpPr>
          <p:nvPr/>
        </p:nvSpPr>
        <p:spPr>
          <a:xfrm xmlns:a="http://schemas.openxmlformats.org/drawingml/2006/main">
            <a:off x="548640" y="1325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5B5B5B"/>
                </a:solidFill>
                <a:latin typeface="Calibri"/>
                <a:ea typeface="Calibri"/>
                <a:cs typeface="Calibri"/>
              </a:rPr>
              <a:t>web-production-1149.up.railway.app  —  branded “NBTS Blood AI”</a:t>
            </a:r>
            <a:endParaRPr sz="1300"/>
          </a:p>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8b615a342d0145c2"/>
          <a:stretch xmlns:a="http://schemas.openxmlformats.org/drawingml/2006/main">
            <a:fillRect l="0" t="0" r="0" b="0"/>
          </a:stretch>
        </p:blipFill>
        <p:spPr>
          <a:xfrm xmlns:a="http://schemas.openxmlformats.org/drawingml/2006/main">
            <a:off x="822960" y="1828800"/>
            <a:ext cx="3063240" cy="339823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EB1EE17-A4CC-46CB-BEA4-4CA9BB73A66B}"/>
              </a:ext>
            </a:extLst>
          </p:cNvPr>
          <p:cNvSpPr>
            <a:spLocks xmlns:a="http://schemas.openxmlformats.org/drawingml/2006/main" noGrp="1"/>
          </p:cNvSpPr>
          <p:nvPr/>
        </p:nvSpPr>
        <p:spPr>
          <a:xfrm xmlns:a="http://schemas.openxmlformats.org/drawingml/2006/main">
            <a:off x="822960" y="5257800"/>
            <a:ext cx="30632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Sign-in screen</a:t>
            </a:r>
            <a:endParaRPr sz="1200"/>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d2f6c9202dc14215"/>
          <a:stretch xmlns:a="http://schemas.openxmlformats.org/drawingml/2006/main">
            <a:fillRect l="0" t="0" r="0" b="0"/>
          </a:stretch>
        </p:blipFill>
        <p:spPr>
          <a:xfrm xmlns:a="http://schemas.openxmlformats.org/drawingml/2006/main">
            <a:off x="4617720" y="1828800"/>
            <a:ext cx="2194560" cy="4342384"/>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52158ECF-3D9A-496E-9394-561279ADCFC7}"/>
              </a:ext>
            </a:extLst>
          </p:cNvPr>
          <p:cNvSpPr>
            <a:spLocks xmlns:a="http://schemas.openxmlformats.org/drawingml/2006/main" noGrp="1"/>
          </p:cNvSpPr>
          <p:nvPr/>
        </p:nvSpPr>
        <p:spPr>
          <a:xfrm xmlns:a="http://schemas.openxmlformats.org/drawingml/2006/main">
            <a:off x="4206240" y="6217920"/>
            <a:ext cx="30175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Administrator dashboard</a:t>
            </a:r>
            <a:endParaRPr sz="1200"/>
          </a:p>
        </p:txBody>
      </p:sp>
      <p:pic>
        <p:nvPicPr>
          <p:cNvPr id="22" name="Image 2"/>
          <p:cNvPicPr>
            <a:picLocks xmlns:a="http://schemas.openxmlformats.org/drawingml/2006/main" noChangeAspect="1"/>
          </p:cNvPicPr>
          <p:nvPr/>
        </p:nvPicPr>
        <p:blipFill>
          <a:blip xmlns:r="http://schemas.openxmlformats.org/officeDocument/2006/relationships" xmlns:a="http://schemas.openxmlformats.org/drawingml/2006/main" r:embed="R33885ae1e77d4915"/>
          <a:stretch xmlns:a="http://schemas.openxmlformats.org/drawingml/2006/main">
            <a:fillRect l="0" t="0" r="0" b="0"/>
          </a:stretch>
        </p:blipFill>
        <p:spPr>
          <a:xfrm xmlns:a="http://schemas.openxmlformats.org/drawingml/2006/main">
            <a:off x="7863840" y="1828800"/>
            <a:ext cx="3749040" cy="3516461"/>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94DDFEE7-0970-41A0-9EA3-0998592C5514}"/>
              </a:ext>
            </a:extLst>
          </p:cNvPr>
          <p:cNvSpPr>
            <a:spLocks xmlns:a="http://schemas.openxmlformats.org/drawingml/2006/main" noGrp="1"/>
          </p:cNvSpPr>
          <p:nvPr/>
        </p:nvSpPr>
        <p:spPr>
          <a:xfrm xmlns:a="http://schemas.openxmlformats.org/drawingml/2006/main">
            <a:off x="7863840" y="5394960"/>
            <a:ext cx="37490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7A1F2B"/>
                </a:solidFill>
                <a:latin typeface="Calibri"/>
                <a:ea typeface="Calibri"/>
                <a:cs typeface="Calibri"/>
              </a:rPr>
              <a:t>Donor list with eligibility labels</a:t>
            </a:r>
            <a:endParaRPr sz="1200"/>
          </a:p>
        </p:txBody>
      </p:sp>
      <p:sp>
        <p:nvSpPr>
          <p:cNvPr id="11" name="Text 6">
            <a:extLst xmlns:a="http://schemas.openxmlformats.org/drawingml/2006/main">
              <a:ext uri="{FF2B5EF4-FFF2-40B4-BE49-F238E27FC236}">
                <a16:creationId xmlns:a16="http://schemas.microsoft.com/office/drawing/2014/main" id="{C9BE471E-79E2-4D5B-A476-7246F3F36CFB}"/>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10</a:t>
            </a:r>
            <a:endParaRPr sz="1000"/>
          </a:p>
        </p:txBody>
      </p:sp>
    </p:spTree>
    <p:extLst>
      <p:ext uri="{BB962C8B-B14F-4D97-AF65-F5344CB8AC3E}">
        <p14:creationId xmlns:p14="http://schemas.microsoft.com/office/powerpoint/2010/main" val="13202732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36F281-EE27-4CA8-B6CA-1EDB83A0A1F0}"/>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VERIFICATION</a:t>
            </a:r>
            <a:endParaRPr sz="1200"/>
          </a:p>
        </p:txBody>
      </p:sp>
      <p:sp>
        <p:nvSpPr>
          <p:cNvPr id="3" name="Text 1">
            <a:extLst xmlns:a="http://schemas.openxmlformats.org/drawingml/2006/main">
              <a:ext uri="{FF2B5EF4-FFF2-40B4-BE49-F238E27FC236}">
                <a16:creationId xmlns:a16="http://schemas.microsoft.com/office/drawing/2014/main" id="{F2ABBB0C-7A54-404B-9408-6B4FBB955EFD}"/>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Tested against the live system</a:t>
            </a:r>
            <a:endParaRPr sz="3000"/>
          </a:p>
        </p:txBody>
      </p:sp>
      <p:sp>
        <p:nvSpPr>
          <p:cNvPr id="4" name="Shape 2">
            <a:extLst xmlns:a="http://schemas.openxmlformats.org/drawingml/2006/main">
              <a:ext uri="{FF2B5EF4-FFF2-40B4-BE49-F238E27FC236}">
                <a16:creationId xmlns:a16="http://schemas.microsoft.com/office/drawing/2014/main" id="{C9336BDE-AE88-4AEF-A632-754EB55B72F5}"/>
              </a:ext>
            </a:extLst>
          </p:cNvPr>
          <p:cNvSpPr>
            <a:spLocks xmlns:a="http://schemas.openxmlformats.org/drawingml/2006/main" noGrp="1"/>
          </p:cNvSpPr>
          <p:nvPr/>
        </p:nvSpPr>
        <p:spPr>
          <a:xfrm xmlns:a="http://schemas.openxmlformats.org/drawingml/2006/main">
            <a:off x="548640" y="173736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5" name="Text 3">
            <a:extLst xmlns:a="http://schemas.openxmlformats.org/drawingml/2006/main">
              <a:ext uri="{FF2B5EF4-FFF2-40B4-BE49-F238E27FC236}">
                <a16:creationId xmlns:a16="http://schemas.microsoft.com/office/drawing/2014/main" id="{BA2464BF-737E-4B3A-A519-4EC801EE5EE3}"/>
              </a:ext>
            </a:extLst>
          </p:cNvPr>
          <p:cNvSpPr>
            <a:spLocks xmlns:a="http://schemas.openxmlformats.org/drawingml/2006/main" noGrp="1"/>
          </p:cNvSpPr>
          <p:nvPr/>
        </p:nvSpPr>
        <p:spPr>
          <a:xfrm xmlns:a="http://schemas.openxmlformats.org/drawingml/2006/main">
            <a:off x="777240" y="173736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TC01</a:t>
            </a:r>
            <a:endParaRPr sz="1250"/>
          </a:p>
        </p:txBody>
      </p:sp>
      <p:sp>
        <p:nvSpPr>
          <p:cNvPr id="6" name="Text 4">
            <a:extLst xmlns:a="http://schemas.openxmlformats.org/drawingml/2006/main">
              <a:ext uri="{FF2B5EF4-FFF2-40B4-BE49-F238E27FC236}">
                <a16:creationId xmlns:a16="http://schemas.microsoft.com/office/drawing/2014/main" id="{8A916B8D-9437-4A14-8ACD-7EF4D8CF6451}"/>
              </a:ext>
            </a:extLst>
          </p:cNvPr>
          <p:cNvSpPr>
            <a:spLocks xmlns:a="http://schemas.openxmlformats.org/drawingml/2006/main" noGrp="1"/>
          </p:cNvSpPr>
          <p:nvPr/>
        </p:nvSpPr>
        <p:spPr>
          <a:xfrm xmlns:a="http://schemas.openxmlformats.org/drawingml/2006/main">
            <a:off x="2194560" y="173736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Authentication</a:t>
            </a:r>
            <a:endParaRPr sz="1250"/>
          </a:p>
        </p:txBody>
      </p:sp>
      <p:sp>
        <p:nvSpPr>
          <p:cNvPr id="7" name="Shape 5">
            <a:extLst xmlns:a="http://schemas.openxmlformats.org/drawingml/2006/main">
              <a:ext uri="{FF2B5EF4-FFF2-40B4-BE49-F238E27FC236}">
                <a16:creationId xmlns:a16="http://schemas.microsoft.com/office/drawing/2014/main" id="{C50E0B91-AC89-4F30-B2AF-42CF63306652}"/>
              </a:ext>
            </a:extLst>
          </p:cNvPr>
          <p:cNvSpPr>
            <a:spLocks xmlns:a="http://schemas.openxmlformats.org/drawingml/2006/main" noGrp="1"/>
          </p:cNvSpPr>
          <p:nvPr/>
        </p:nvSpPr>
        <p:spPr>
          <a:xfrm xmlns:a="http://schemas.openxmlformats.org/drawingml/2006/main">
            <a:off x="6080760" y="1847088"/>
            <a:ext cx="438912" cy="438912"/>
          </a:xfrm>
          <a:prstGeom xmlns:a="http://schemas.openxmlformats.org/drawingml/2006/main" prst="ellipse">
            <a:avLst/>
          </a:prstGeom>
          <a:solidFill xmlns:a="http://schemas.openxmlformats.org/drawingml/2006/main">
            <a:srgbClr val="3E7D50"/>
          </a:solidFill>
        </p:spPr>
      </p:sp>
      <p:sp>
        <p:nvSpPr>
          <p:cNvPr id="8" name="Text 6">
            <a:extLst xmlns:a="http://schemas.openxmlformats.org/drawingml/2006/main">
              <a:ext uri="{FF2B5EF4-FFF2-40B4-BE49-F238E27FC236}">
                <a16:creationId xmlns:a16="http://schemas.microsoft.com/office/drawing/2014/main" id="{69A5627C-5AF7-41FF-93C4-BC5BF0D04975}"/>
              </a:ext>
            </a:extLst>
          </p:cNvPr>
          <p:cNvSpPr>
            <a:spLocks xmlns:a="http://schemas.openxmlformats.org/drawingml/2006/main" noGrp="1"/>
          </p:cNvSpPr>
          <p:nvPr/>
        </p:nvSpPr>
        <p:spPr>
          <a:xfrm xmlns:a="http://schemas.openxmlformats.org/drawingml/2006/main">
            <a:off x="6080760" y="184708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9" name="Text 7">
            <a:extLst xmlns:a="http://schemas.openxmlformats.org/drawingml/2006/main">
              <a:ext uri="{FF2B5EF4-FFF2-40B4-BE49-F238E27FC236}">
                <a16:creationId xmlns:a16="http://schemas.microsoft.com/office/drawing/2014/main" id="{45BDED28-87EC-4907-BB21-2E90BAFD89C6}"/>
              </a:ext>
            </a:extLst>
          </p:cNvPr>
          <p:cNvSpPr>
            <a:spLocks xmlns:a="http://schemas.openxmlformats.org/drawingml/2006/main" noGrp="1"/>
          </p:cNvSpPr>
          <p:nvPr/>
        </p:nvSpPr>
        <p:spPr>
          <a:xfrm xmlns:a="http://schemas.openxmlformats.org/drawingml/2006/main">
            <a:off x="6583680" y="173736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10" name="Shape 8">
            <a:extLst xmlns:a="http://schemas.openxmlformats.org/drawingml/2006/main">
              <a:ext uri="{FF2B5EF4-FFF2-40B4-BE49-F238E27FC236}">
                <a16:creationId xmlns:a16="http://schemas.microsoft.com/office/drawing/2014/main" id="{0A1A0E82-485D-4179-B58C-EA2D855D83F6}"/>
              </a:ext>
            </a:extLst>
          </p:cNvPr>
          <p:cNvSpPr>
            <a:spLocks xmlns:a="http://schemas.openxmlformats.org/drawingml/2006/main" noGrp="1"/>
          </p:cNvSpPr>
          <p:nvPr/>
        </p:nvSpPr>
        <p:spPr>
          <a:xfrm xmlns:a="http://schemas.openxmlformats.org/drawingml/2006/main">
            <a:off x="548640" y="251460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2DC8A076-7D7C-4C3C-94D2-192E7C35D45A}"/>
              </a:ext>
            </a:extLst>
          </p:cNvPr>
          <p:cNvSpPr>
            <a:spLocks xmlns:a="http://schemas.openxmlformats.org/drawingml/2006/main" noGrp="1"/>
          </p:cNvSpPr>
          <p:nvPr/>
        </p:nvSpPr>
        <p:spPr>
          <a:xfrm xmlns:a="http://schemas.openxmlformats.org/drawingml/2006/main">
            <a:off x="777240" y="251460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TC02</a:t>
            </a:r>
            <a:endParaRPr sz="1250"/>
          </a:p>
        </p:txBody>
      </p:sp>
      <p:sp>
        <p:nvSpPr>
          <p:cNvPr id="12" name="Text 10">
            <a:extLst xmlns:a="http://schemas.openxmlformats.org/drawingml/2006/main">
              <a:ext uri="{FF2B5EF4-FFF2-40B4-BE49-F238E27FC236}">
                <a16:creationId xmlns:a16="http://schemas.microsoft.com/office/drawing/2014/main" id="{03BB3161-00AB-4E66-AF58-AB3CE38A13C2}"/>
              </a:ext>
            </a:extLst>
          </p:cNvPr>
          <p:cNvSpPr>
            <a:spLocks xmlns:a="http://schemas.openxmlformats.org/drawingml/2006/main" noGrp="1"/>
          </p:cNvSpPr>
          <p:nvPr/>
        </p:nvSpPr>
        <p:spPr>
          <a:xfrm xmlns:a="http://schemas.openxmlformats.org/drawingml/2006/main">
            <a:off x="2194560" y="251460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Donor registration</a:t>
            </a:r>
            <a:endParaRPr sz="1250"/>
          </a:p>
        </p:txBody>
      </p:sp>
      <p:sp>
        <p:nvSpPr>
          <p:cNvPr id="13" name="Shape 11">
            <a:extLst xmlns:a="http://schemas.openxmlformats.org/drawingml/2006/main">
              <a:ext uri="{FF2B5EF4-FFF2-40B4-BE49-F238E27FC236}">
                <a16:creationId xmlns:a16="http://schemas.microsoft.com/office/drawing/2014/main" id="{42737FC3-1F9F-4945-A59D-CB209D0F0894}"/>
              </a:ext>
            </a:extLst>
          </p:cNvPr>
          <p:cNvSpPr>
            <a:spLocks xmlns:a="http://schemas.openxmlformats.org/drawingml/2006/main" noGrp="1"/>
          </p:cNvSpPr>
          <p:nvPr/>
        </p:nvSpPr>
        <p:spPr>
          <a:xfrm xmlns:a="http://schemas.openxmlformats.org/drawingml/2006/main">
            <a:off x="6080760" y="2624328"/>
            <a:ext cx="438912" cy="438912"/>
          </a:xfrm>
          <a:prstGeom xmlns:a="http://schemas.openxmlformats.org/drawingml/2006/main" prst="ellipse">
            <a:avLst/>
          </a:prstGeom>
          <a:solidFill xmlns:a="http://schemas.openxmlformats.org/drawingml/2006/main">
            <a:srgbClr val="3E7D50"/>
          </a:solidFill>
        </p:spPr>
      </p:sp>
      <p:sp>
        <p:nvSpPr>
          <p:cNvPr id="14" name="Text 12">
            <a:extLst xmlns:a="http://schemas.openxmlformats.org/drawingml/2006/main">
              <a:ext uri="{FF2B5EF4-FFF2-40B4-BE49-F238E27FC236}">
                <a16:creationId xmlns:a16="http://schemas.microsoft.com/office/drawing/2014/main" id="{DE09C564-627F-4B91-9248-33D244527C87}"/>
              </a:ext>
            </a:extLst>
          </p:cNvPr>
          <p:cNvSpPr>
            <a:spLocks xmlns:a="http://schemas.openxmlformats.org/drawingml/2006/main" noGrp="1"/>
          </p:cNvSpPr>
          <p:nvPr/>
        </p:nvSpPr>
        <p:spPr>
          <a:xfrm xmlns:a="http://schemas.openxmlformats.org/drawingml/2006/main">
            <a:off x="6080760" y="262432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15" name="Text 13">
            <a:extLst xmlns:a="http://schemas.openxmlformats.org/drawingml/2006/main">
              <a:ext uri="{FF2B5EF4-FFF2-40B4-BE49-F238E27FC236}">
                <a16:creationId xmlns:a16="http://schemas.microsoft.com/office/drawing/2014/main" id="{293437BE-025E-427C-9B03-B73150C67BB8}"/>
              </a:ext>
            </a:extLst>
          </p:cNvPr>
          <p:cNvSpPr>
            <a:spLocks xmlns:a="http://schemas.openxmlformats.org/drawingml/2006/main" noGrp="1"/>
          </p:cNvSpPr>
          <p:nvPr/>
        </p:nvSpPr>
        <p:spPr>
          <a:xfrm xmlns:a="http://schemas.openxmlformats.org/drawingml/2006/main">
            <a:off x="6583680" y="251460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16" name="Shape 14">
            <a:extLst xmlns:a="http://schemas.openxmlformats.org/drawingml/2006/main">
              <a:ext uri="{FF2B5EF4-FFF2-40B4-BE49-F238E27FC236}">
                <a16:creationId xmlns:a16="http://schemas.microsoft.com/office/drawing/2014/main" id="{5AC9BB40-CC03-4F08-A0EE-9DAF4D4CE8F7}"/>
              </a:ext>
            </a:extLst>
          </p:cNvPr>
          <p:cNvSpPr>
            <a:spLocks xmlns:a="http://schemas.openxmlformats.org/drawingml/2006/main" noGrp="1"/>
          </p:cNvSpPr>
          <p:nvPr/>
        </p:nvSpPr>
        <p:spPr>
          <a:xfrm xmlns:a="http://schemas.openxmlformats.org/drawingml/2006/main">
            <a:off x="548640" y="329184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17" name="Text 15">
            <a:extLst xmlns:a="http://schemas.openxmlformats.org/drawingml/2006/main">
              <a:ext uri="{FF2B5EF4-FFF2-40B4-BE49-F238E27FC236}">
                <a16:creationId xmlns:a16="http://schemas.microsoft.com/office/drawing/2014/main" id="{C0310E08-3F12-477E-8D04-B6A00252A67F}"/>
              </a:ext>
            </a:extLst>
          </p:cNvPr>
          <p:cNvSpPr>
            <a:spLocks xmlns:a="http://schemas.openxmlformats.org/drawingml/2006/main" noGrp="1"/>
          </p:cNvSpPr>
          <p:nvPr/>
        </p:nvSpPr>
        <p:spPr>
          <a:xfrm xmlns:a="http://schemas.openxmlformats.org/drawingml/2006/main">
            <a:off x="777240" y="329184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TC03</a:t>
            </a:r>
            <a:endParaRPr sz="1250"/>
          </a:p>
        </p:txBody>
      </p:sp>
      <p:sp>
        <p:nvSpPr>
          <p:cNvPr id="18" name="Text 16">
            <a:extLst xmlns:a="http://schemas.openxmlformats.org/drawingml/2006/main">
              <a:ext uri="{FF2B5EF4-FFF2-40B4-BE49-F238E27FC236}">
                <a16:creationId xmlns:a16="http://schemas.microsoft.com/office/drawing/2014/main" id="{522D8D3E-63E5-4991-A6FF-6EBDF307B956}"/>
              </a:ext>
            </a:extLst>
          </p:cNvPr>
          <p:cNvSpPr>
            <a:spLocks xmlns:a="http://schemas.openxmlformats.org/drawingml/2006/main" noGrp="1"/>
          </p:cNvSpPr>
          <p:nvPr/>
        </p:nvSpPr>
        <p:spPr>
          <a:xfrm xmlns:a="http://schemas.openxmlformats.org/drawingml/2006/main">
            <a:off x="2194560" y="329184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Donation recording</a:t>
            </a:r>
            <a:endParaRPr sz="1250"/>
          </a:p>
        </p:txBody>
      </p:sp>
      <p:sp>
        <p:nvSpPr>
          <p:cNvPr id="19" name="Shape 17">
            <a:extLst xmlns:a="http://schemas.openxmlformats.org/drawingml/2006/main">
              <a:ext uri="{FF2B5EF4-FFF2-40B4-BE49-F238E27FC236}">
                <a16:creationId xmlns:a16="http://schemas.microsoft.com/office/drawing/2014/main" id="{18EB5A18-4F87-424D-AC27-EAD6ABD2D206}"/>
              </a:ext>
            </a:extLst>
          </p:cNvPr>
          <p:cNvSpPr>
            <a:spLocks xmlns:a="http://schemas.openxmlformats.org/drawingml/2006/main" noGrp="1"/>
          </p:cNvSpPr>
          <p:nvPr/>
        </p:nvSpPr>
        <p:spPr>
          <a:xfrm xmlns:a="http://schemas.openxmlformats.org/drawingml/2006/main">
            <a:off x="6080760" y="3401568"/>
            <a:ext cx="438912" cy="438912"/>
          </a:xfrm>
          <a:prstGeom xmlns:a="http://schemas.openxmlformats.org/drawingml/2006/main" prst="ellipse">
            <a:avLst/>
          </a:prstGeom>
          <a:solidFill xmlns:a="http://schemas.openxmlformats.org/drawingml/2006/main">
            <a:srgbClr val="3E7D50"/>
          </a:solidFill>
        </p:spPr>
      </p:sp>
      <p:sp>
        <p:nvSpPr>
          <p:cNvPr id="20" name="Text 18">
            <a:extLst xmlns:a="http://schemas.openxmlformats.org/drawingml/2006/main">
              <a:ext uri="{FF2B5EF4-FFF2-40B4-BE49-F238E27FC236}">
                <a16:creationId xmlns:a16="http://schemas.microsoft.com/office/drawing/2014/main" id="{049C758F-04B2-4112-AB34-6E090F084145}"/>
              </a:ext>
            </a:extLst>
          </p:cNvPr>
          <p:cNvSpPr>
            <a:spLocks xmlns:a="http://schemas.openxmlformats.org/drawingml/2006/main" noGrp="1"/>
          </p:cNvSpPr>
          <p:nvPr/>
        </p:nvSpPr>
        <p:spPr>
          <a:xfrm xmlns:a="http://schemas.openxmlformats.org/drawingml/2006/main">
            <a:off x="6080760" y="340156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1" name="Text 19">
            <a:extLst xmlns:a="http://schemas.openxmlformats.org/drawingml/2006/main">
              <a:ext uri="{FF2B5EF4-FFF2-40B4-BE49-F238E27FC236}">
                <a16:creationId xmlns:a16="http://schemas.microsoft.com/office/drawing/2014/main" id="{B3E2BE72-A461-47F0-B3DF-C72C421BA5DA}"/>
              </a:ext>
            </a:extLst>
          </p:cNvPr>
          <p:cNvSpPr>
            <a:spLocks xmlns:a="http://schemas.openxmlformats.org/drawingml/2006/main" noGrp="1"/>
          </p:cNvSpPr>
          <p:nvPr/>
        </p:nvSpPr>
        <p:spPr>
          <a:xfrm xmlns:a="http://schemas.openxmlformats.org/drawingml/2006/main">
            <a:off x="6583680" y="329184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22" name="Shape 20">
            <a:extLst xmlns:a="http://schemas.openxmlformats.org/drawingml/2006/main">
              <a:ext uri="{FF2B5EF4-FFF2-40B4-BE49-F238E27FC236}">
                <a16:creationId xmlns:a16="http://schemas.microsoft.com/office/drawing/2014/main" id="{D775F040-467C-402C-AD69-265BB3B19A47}"/>
              </a:ext>
            </a:extLst>
          </p:cNvPr>
          <p:cNvSpPr>
            <a:spLocks xmlns:a="http://schemas.openxmlformats.org/drawingml/2006/main" noGrp="1"/>
          </p:cNvSpPr>
          <p:nvPr/>
        </p:nvSpPr>
        <p:spPr>
          <a:xfrm xmlns:a="http://schemas.openxmlformats.org/drawingml/2006/main">
            <a:off x="548640" y="406908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23" name="Text 21">
            <a:extLst xmlns:a="http://schemas.openxmlformats.org/drawingml/2006/main">
              <a:ext uri="{FF2B5EF4-FFF2-40B4-BE49-F238E27FC236}">
                <a16:creationId xmlns:a16="http://schemas.microsoft.com/office/drawing/2014/main" id="{99ACEC78-C1D5-4511-A6F6-0F950E6BE367}"/>
              </a:ext>
            </a:extLst>
          </p:cNvPr>
          <p:cNvSpPr>
            <a:spLocks xmlns:a="http://schemas.openxmlformats.org/drawingml/2006/main" noGrp="1"/>
          </p:cNvSpPr>
          <p:nvPr/>
        </p:nvSpPr>
        <p:spPr>
          <a:xfrm xmlns:a="http://schemas.openxmlformats.org/drawingml/2006/main">
            <a:off x="777240" y="406908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TC04</a:t>
            </a:r>
            <a:endParaRPr sz="1250"/>
          </a:p>
        </p:txBody>
      </p:sp>
      <p:sp>
        <p:nvSpPr>
          <p:cNvPr id="24" name="Text 22">
            <a:extLst xmlns:a="http://schemas.openxmlformats.org/drawingml/2006/main">
              <a:ext uri="{FF2B5EF4-FFF2-40B4-BE49-F238E27FC236}">
                <a16:creationId xmlns:a16="http://schemas.microsoft.com/office/drawing/2014/main" id="{1B804C84-50FA-4505-AABC-8B33421E284A}"/>
              </a:ext>
            </a:extLst>
          </p:cNvPr>
          <p:cNvSpPr>
            <a:spLocks xmlns:a="http://schemas.openxmlformats.org/drawingml/2006/main" noGrp="1"/>
          </p:cNvSpPr>
          <p:nvPr/>
        </p:nvSpPr>
        <p:spPr>
          <a:xfrm xmlns:a="http://schemas.openxmlformats.org/drawingml/2006/main">
            <a:off x="2194560" y="406908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Expiry monitoring</a:t>
            </a:r>
            <a:endParaRPr sz="1250"/>
          </a:p>
        </p:txBody>
      </p:sp>
      <p:sp>
        <p:nvSpPr>
          <p:cNvPr id="25" name="Shape 23">
            <a:extLst xmlns:a="http://schemas.openxmlformats.org/drawingml/2006/main">
              <a:ext uri="{FF2B5EF4-FFF2-40B4-BE49-F238E27FC236}">
                <a16:creationId xmlns:a16="http://schemas.microsoft.com/office/drawing/2014/main" id="{59B4AF94-4942-45A0-B9D2-F4889804516C}"/>
              </a:ext>
            </a:extLst>
          </p:cNvPr>
          <p:cNvSpPr>
            <a:spLocks xmlns:a="http://schemas.openxmlformats.org/drawingml/2006/main" noGrp="1"/>
          </p:cNvSpPr>
          <p:nvPr/>
        </p:nvSpPr>
        <p:spPr>
          <a:xfrm xmlns:a="http://schemas.openxmlformats.org/drawingml/2006/main">
            <a:off x="6080760" y="4178808"/>
            <a:ext cx="438912" cy="438912"/>
          </a:xfrm>
          <a:prstGeom xmlns:a="http://schemas.openxmlformats.org/drawingml/2006/main" prst="ellipse">
            <a:avLst/>
          </a:prstGeom>
          <a:solidFill xmlns:a="http://schemas.openxmlformats.org/drawingml/2006/main">
            <a:srgbClr val="3E7D50"/>
          </a:solidFill>
        </p:spPr>
      </p:sp>
      <p:sp>
        <p:nvSpPr>
          <p:cNvPr id="26" name="Text 24">
            <a:extLst xmlns:a="http://schemas.openxmlformats.org/drawingml/2006/main">
              <a:ext uri="{FF2B5EF4-FFF2-40B4-BE49-F238E27FC236}">
                <a16:creationId xmlns:a16="http://schemas.microsoft.com/office/drawing/2014/main" id="{5A5E02F5-BA66-4C14-A333-BE657181C179}"/>
              </a:ext>
            </a:extLst>
          </p:cNvPr>
          <p:cNvSpPr>
            <a:spLocks xmlns:a="http://schemas.openxmlformats.org/drawingml/2006/main" noGrp="1"/>
          </p:cNvSpPr>
          <p:nvPr/>
        </p:nvSpPr>
        <p:spPr>
          <a:xfrm xmlns:a="http://schemas.openxmlformats.org/drawingml/2006/main">
            <a:off x="6080760" y="417880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27" name="Text 25">
            <a:extLst xmlns:a="http://schemas.openxmlformats.org/drawingml/2006/main">
              <a:ext uri="{FF2B5EF4-FFF2-40B4-BE49-F238E27FC236}">
                <a16:creationId xmlns:a16="http://schemas.microsoft.com/office/drawing/2014/main" id="{20F7F486-A0E1-4F85-9B90-21DE2051E207}"/>
              </a:ext>
            </a:extLst>
          </p:cNvPr>
          <p:cNvSpPr>
            <a:spLocks xmlns:a="http://schemas.openxmlformats.org/drawingml/2006/main" noGrp="1"/>
          </p:cNvSpPr>
          <p:nvPr/>
        </p:nvSpPr>
        <p:spPr>
          <a:xfrm xmlns:a="http://schemas.openxmlformats.org/drawingml/2006/main">
            <a:off x="6583680" y="406908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a:t>
            </a:r>
            <a:endParaRPr sz="1050"/>
          </a:p>
        </p:txBody>
      </p:sp>
      <p:sp>
        <p:nvSpPr>
          <p:cNvPr id="28" name="Shape 26">
            <a:extLst xmlns:a="http://schemas.openxmlformats.org/drawingml/2006/main">
              <a:ext uri="{FF2B5EF4-FFF2-40B4-BE49-F238E27FC236}">
                <a16:creationId xmlns:a16="http://schemas.microsoft.com/office/drawing/2014/main" id="{D7DE26EC-00D9-4C11-9E6B-8568B1487842}"/>
              </a:ext>
            </a:extLst>
          </p:cNvPr>
          <p:cNvSpPr>
            <a:spLocks xmlns:a="http://schemas.openxmlformats.org/drawingml/2006/main" noGrp="1"/>
          </p:cNvSpPr>
          <p:nvPr/>
        </p:nvSpPr>
        <p:spPr>
          <a:xfrm xmlns:a="http://schemas.openxmlformats.org/drawingml/2006/main">
            <a:off x="548640" y="4846320"/>
            <a:ext cx="7315200" cy="658368"/>
          </a:xfrm>
          <a:prstGeom xmlns:a="http://schemas.openxmlformats.org/drawingml/2006/main" prst="roundRect">
            <a:avLst>
              <a:gd name="adj" fmla="val 11111"/>
            </a:avLst>
          </a:prstGeom>
          <a:solidFill xmlns:a="http://schemas.openxmlformats.org/drawingml/2006/main">
            <a:srgbClr val="F7F7F7"/>
          </a:solidFill>
        </p:spPr>
      </p:sp>
      <p:sp>
        <p:nvSpPr>
          <p:cNvPr id="29" name="Text 27">
            <a:extLst xmlns:a="http://schemas.openxmlformats.org/drawingml/2006/main">
              <a:ext uri="{FF2B5EF4-FFF2-40B4-BE49-F238E27FC236}">
                <a16:creationId xmlns:a16="http://schemas.microsoft.com/office/drawing/2014/main" id="{B2EB87B6-BBDD-4037-A448-57B895D307BB}"/>
              </a:ext>
            </a:extLst>
          </p:cNvPr>
          <p:cNvSpPr>
            <a:spLocks xmlns:a="http://schemas.openxmlformats.org/drawingml/2006/main" noGrp="1"/>
          </p:cNvSpPr>
          <p:nvPr/>
        </p:nvSpPr>
        <p:spPr>
          <a:xfrm xmlns:a="http://schemas.openxmlformats.org/drawingml/2006/main">
            <a:off x="777240" y="484632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TC05 / TC06</a:t>
            </a:r>
            <a:endParaRPr sz="1250"/>
          </a:p>
        </p:txBody>
      </p:sp>
      <p:sp>
        <p:nvSpPr>
          <p:cNvPr id="30" name="Text 28">
            <a:extLst xmlns:a="http://schemas.openxmlformats.org/drawingml/2006/main">
              <a:ext uri="{FF2B5EF4-FFF2-40B4-BE49-F238E27FC236}">
                <a16:creationId xmlns:a16="http://schemas.microsoft.com/office/drawing/2014/main" id="{0A778BAB-68A8-462F-9ABF-B8E7FF3287DE}"/>
              </a:ext>
            </a:extLst>
          </p:cNvPr>
          <p:cNvSpPr>
            <a:spLocks xmlns:a="http://schemas.openxmlformats.org/drawingml/2006/main" noGrp="1"/>
          </p:cNvSpPr>
          <p:nvPr/>
        </p:nvSpPr>
        <p:spPr>
          <a:xfrm xmlns:a="http://schemas.openxmlformats.org/drawingml/2006/main">
            <a:off x="2194560" y="484632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AI forecast &amp; shortage logic</a:t>
            </a:r>
            <a:endParaRPr sz="1250"/>
          </a:p>
        </p:txBody>
      </p:sp>
      <p:sp>
        <p:nvSpPr>
          <p:cNvPr id="31" name="Shape 29">
            <a:extLst xmlns:a="http://schemas.openxmlformats.org/drawingml/2006/main">
              <a:ext uri="{FF2B5EF4-FFF2-40B4-BE49-F238E27FC236}">
                <a16:creationId xmlns:a16="http://schemas.microsoft.com/office/drawing/2014/main" id="{0A238246-9C16-4646-992A-9943808F7CA1}"/>
              </a:ext>
            </a:extLst>
          </p:cNvPr>
          <p:cNvSpPr>
            <a:spLocks xmlns:a="http://schemas.openxmlformats.org/drawingml/2006/main" noGrp="1"/>
          </p:cNvSpPr>
          <p:nvPr/>
        </p:nvSpPr>
        <p:spPr>
          <a:xfrm xmlns:a="http://schemas.openxmlformats.org/drawingml/2006/main">
            <a:off x="6080760" y="4956048"/>
            <a:ext cx="438912" cy="438912"/>
          </a:xfrm>
          <a:prstGeom xmlns:a="http://schemas.openxmlformats.org/drawingml/2006/main" prst="ellipse">
            <a:avLst/>
          </a:prstGeom>
          <a:solidFill xmlns:a="http://schemas.openxmlformats.org/drawingml/2006/main">
            <a:srgbClr val="3E7D50"/>
          </a:solidFill>
        </p:spPr>
      </p:sp>
      <p:sp>
        <p:nvSpPr>
          <p:cNvPr id="32" name="Text 30">
            <a:extLst xmlns:a="http://schemas.openxmlformats.org/drawingml/2006/main">
              <a:ext uri="{FF2B5EF4-FFF2-40B4-BE49-F238E27FC236}">
                <a16:creationId xmlns:a16="http://schemas.microsoft.com/office/drawing/2014/main" id="{CCE9E3A4-6C0E-4810-A384-C97294DC6C59}"/>
              </a:ext>
            </a:extLst>
          </p:cNvPr>
          <p:cNvSpPr>
            <a:spLocks xmlns:a="http://schemas.openxmlformats.org/drawingml/2006/main" noGrp="1"/>
          </p:cNvSpPr>
          <p:nvPr/>
        </p:nvSpPr>
        <p:spPr>
          <a:xfrm xmlns:a="http://schemas.openxmlformats.org/drawingml/2006/main">
            <a:off x="6080760" y="495604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3" name="Text 31">
            <a:extLst xmlns:a="http://schemas.openxmlformats.org/drawingml/2006/main">
              <a:ext uri="{FF2B5EF4-FFF2-40B4-BE49-F238E27FC236}">
                <a16:creationId xmlns:a16="http://schemas.microsoft.com/office/drawing/2014/main" id="{6F6189F7-D33A-4AC3-A437-132B5D899087}"/>
              </a:ext>
            </a:extLst>
          </p:cNvPr>
          <p:cNvSpPr>
            <a:spLocks xmlns:a="http://schemas.openxmlformats.org/drawingml/2006/main" noGrp="1"/>
          </p:cNvSpPr>
          <p:nvPr/>
        </p:nvSpPr>
        <p:spPr>
          <a:xfrm xmlns:a="http://schemas.openxmlformats.org/drawingml/2006/main">
            <a:off x="6583680" y="484632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Pass (prototype)</a:t>
            </a:r>
            <a:endParaRPr sz="1050"/>
          </a:p>
        </p:txBody>
      </p:sp>
      <p:sp>
        <p:nvSpPr>
          <p:cNvPr id="34" name="Shape 32">
            <a:extLst xmlns:a="http://schemas.openxmlformats.org/drawingml/2006/main">
              <a:ext uri="{FF2B5EF4-FFF2-40B4-BE49-F238E27FC236}">
                <a16:creationId xmlns:a16="http://schemas.microsoft.com/office/drawing/2014/main" id="{304D5582-FD83-47C9-BE2B-225980BF90DF}"/>
              </a:ext>
            </a:extLst>
          </p:cNvPr>
          <p:cNvSpPr>
            <a:spLocks xmlns:a="http://schemas.openxmlformats.org/drawingml/2006/main" noGrp="1"/>
          </p:cNvSpPr>
          <p:nvPr/>
        </p:nvSpPr>
        <p:spPr>
          <a:xfrm xmlns:a="http://schemas.openxmlformats.org/drawingml/2006/main">
            <a:off x="548640" y="5623560"/>
            <a:ext cx="7315200" cy="658368"/>
          </a:xfrm>
          <a:prstGeom xmlns:a="http://schemas.openxmlformats.org/drawingml/2006/main" prst="roundRect">
            <a:avLst>
              <a:gd name="adj" fmla="val 11111"/>
            </a:avLst>
          </a:prstGeom>
          <a:solidFill xmlns:a="http://schemas.openxmlformats.org/drawingml/2006/main">
            <a:srgbClr val="FFFFFF"/>
          </a:solidFill>
        </p:spPr>
      </p:sp>
      <p:sp>
        <p:nvSpPr>
          <p:cNvPr id="35" name="Text 33">
            <a:extLst xmlns:a="http://schemas.openxmlformats.org/drawingml/2006/main">
              <a:ext uri="{FF2B5EF4-FFF2-40B4-BE49-F238E27FC236}">
                <a16:creationId xmlns:a16="http://schemas.microsoft.com/office/drawing/2014/main" id="{4BF575DB-409D-4072-8DF5-229E3F99704F}"/>
              </a:ext>
            </a:extLst>
          </p:cNvPr>
          <p:cNvSpPr>
            <a:spLocks xmlns:a="http://schemas.openxmlformats.org/drawingml/2006/main" noGrp="1"/>
          </p:cNvSpPr>
          <p:nvPr/>
        </p:nvSpPr>
        <p:spPr>
          <a:xfrm xmlns:a="http://schemas.openxmlformats.org/drawingml/2006/main">
            <a:off x="777240" y="5623560"/>
            <a:ext cx="137160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E4374"/>
                </a:solidFill>
                <a:latin typeface="Calibri"/>
                <a:ea typeface="Calibri"/>
                <a:cs typeface="Calibri"/>
              </a:rPr>
              <a:t>TC07 / TC08</a:t>
            </a:r>
            <a:endParaRPr sz="1250"/>
          </a:p>
        </p:txBody>
      </p:sp>
      <p:sp>
        <p:nvSpPr>
          <p:cNvPr id="36" name="Text 34">
            <a:extLst xmlns:a="http://schemas.openxmlformats.org/drawingml/2006/main">
              <a:ext uri="{FF2B5EF4-FFF2-40B4-BE49-F238E27FC236}">
                <a16:creationId xmlns:a16="http://schemas.microsoft.com/office/drawing/2014/main" id="{0353A6D4-9462-4493-8A10-A3B15911DAA2}"/>
              </a:ext>
            </a:extLst>
          </p:cNvPr>
          <p:cNvSpPr>
            <a:spLocks xmlns:a="http://schemas.openxmlformats.org/drawingml/2006/main" noGrp="1"/>
          </p:cNvSpPr>
          <p:nvPr/>
        </p:nvSpPr>
        <p:spPr>
          <a:xfrm xmlns:a="http://schemas.openxmlformats.org/drawingml/2006/main">
            <a:off x="2194560" y="5623560"/>
            <a:ext cx="37490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1A1A1A"/>
                </a:solidFill>
                <a:latin typeface="Calibri"/>
                <a:ea typeface="Calibri"/>
                <a:cs typeface="Calibri"/>
              </a:rPr>
              <a:t>Notification dispatch &amp; role restriction</a:t>
            </a:r>
            <a:endParaRPr sz="1250"/>
          </a:p>
        </p:txBody>
      </p:sp>
      <p:sp>
        <p:nvSpPr>
          <p:cNvPr id="37" name="Shape 35">
            <a:extLst xmlns:a="http://schemas.openxmlformats.org/drawingml/2006/main">
              <a:ext uri="{FF2B5EF4-FFF2-40B4-BE49-F238E27FC236}">
                <a16:creationId xmlns:a16="http://schemas.microsoft.com/office/drawing/2014/main" id="{4C8573A6-3B92-46A3-A39A-51A5B592517C}"/>
              </a:ext>
            </a:extLst>
          </p:cNvPr>
          <p:cNvSpPr>
            <a:spLocks xmlns:a="http://schemas.openxmlformats.org/drawingml/2006/main" noGrp="1"/>
          </p:cNvSpPr>
          <p:nvPr/>
        </p:nvSpPr>
        <p:spPr>
          <a:xfrm xmlns:a="http://schemas.openxmlformats.org/drawingml/2006/main">
            <a:off x="6080760" y="5733288"/>
            <a:ext cx="438912" cy="438912"/>
          </a:xfrm>
          <a:prstGeom xmlns:a="http://schemas.openxmlformats.org/drawingml/2006/main" prst="ellipse">
            <a:avLst/>
          </a:prstGeom>
          <a:solidFill xmlns:a="http://schemas.openxmlformats.org/drawingml/2006/main">
            <a:srgbClr val="B5860B"/>
          </a:solidFill>
        </p:spPr>
      </p:sp>
      <p:sp>
        <p:nvSpPr>
          <p:cNvPr id="38" name="Text 36">
            <a:extLst xmlns:a="http://schemas.openxmlformats.org/drawingml/2006/main">
              <a:ext uri="{FF2B5EF4-FFF2-40B4-BE49-F238E27FC236}">
                <a16:creationId xmlns:a16="http://schemas.microsoft.com/office/drawing/2014/main" id="{8DA549B7-3446-4701-9055-14596D20F202}"/>
              </a:ext>
            </a:extLst>
          </p:cNvPr>
          <p:cNvSpPr>
            <a:spLocks xmlns:a="http://schemas.openxmlformats.org/drawingml/2006/main" noGrp="1"/>
          </p:cNvSpPr>
          <p:nvPr/>
        </p:nvSpPr>
        <p:spPr>
          <a:xfrm xmlns:a="http://schemas.openxmlformats.org/drawingml/2006/main">
            <a:off x="6080760" y="5733288"/>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a:t>
            </a:r>
            <a:endParaRPr sz="1300"/>
          </a:p>
        </p:txBody>
      </p:sp>
      <p:sp>
        <p:nvSpPr>
          <p:cNvPr id="39" name="Text 37">
            <a:extLst xmlns:a="http://schemas.openxmlformats.org/drawingml/2006/main">
              <a:ext uri="{FF2B5EF4-FFF2-40B4-BE49-F238E27FC236}">
                <a16:creationId xmlns:a16="http://schemas.microsoft.com/office/drawing/2014/main" id="{199454B9-696E-403D-85BD-4C06DF4935D0}"/>
              </a:ext>
            </a:extLst>
          </p:cNvPr>
          <p:cNvSpPr>
            <a:spLocks xmlns:a="http://schemas.openxmlformats.org/drawingml/2006/main" noGrp="1"/>
          </p:cNvSpPr>
          <p:nvPr/>
        </p:nvSpPr>
        <p:spPr>
          <a:xfrm xmlns:a="http://schemas.openxmlformats.org/drawingml/2006/main">
            <a:off x="6583680" y="5623560"/>
            <a:ext cx="1234440" cy="65836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B5B5B"/>
                </a:solidFill>
                <a:latin typeface="Calibri"/>
                <a:ea typeface="Calibri"/>
                <a:cs typeface="Calibri"/>
              </a:rPr>
              <a:t>Follow-up planned</a:t>
            </a:r>
            <a:endParaRPr sz="1050"/>
          </a:p>
        </p:txBody>
      </p:sp>
      <p:sp>
        <p:nvSpPr>
          <p:cNvPr id="40" name="Shape 38">
            <a:extLst xmlns:a="http://schemas.openxmlformats.org/drawingml/2006/main">
              <a:ext uri="{FF2B5EF4-FFF2-40B4-BE49-F238E27FC236}">
                <a16:creationId xmlns:a16="http://schemas.microsoft.com/office/drawing/2014/main" id="{9E67D181-7221-407C-90FD-5017EE5D6BCA}"/>
              </a:ext>
            </a:extLst>
          </p:cNvPr>
          <p:cNvSpPr>
            <a:spLocks xmlns:a="http://schemas.openxmlformats.org/drawingml/2006/main" noGrp="1"/>
          </p:cNvSpPr>
          <p:nvPr/>
        </p:nvSpPr>
        <p:spPr>
          <a:xfrm xmlns:a="http://schemas.openxmlformats.org/drawingml/2006/main">
            <a:off x="8183880" y="1737360"/>
            <a:ext cx="3429000" cy="4572000"/>
          </a:xfrm>
          <a:prstGeom xmlns:a="http://schemas.openxmlformats.org/drawingml/2006/main" prst="roundRect">
            <a:avLst>
              <a:gd name="adj" fmla="val 3200"/>
            </a:avLst>
          </a:prstGeom>
          <a:solidFill xmlns:a="http://schemas.openxmlformats.org/drawingml/2006/main">
            <a:srgbClr val="F7EDEE"/>
          </a:solidFill>
        </p:spPr>
      </p:sp>
      <p:sp>
        <p:nvSpPr>
          <p:cNvPr id="41" name="Text 39">
            <a:extLst xmlns:a="http://schemas.openxmlformats.org/drawingml/2006/main">
              <a:ext uri="{FF2B5EF4-FFF2-40B4-BE49-F238E27FC236}">
                <a16:creationId xmlns:a16="http://schemas.microsoft.com/office/drawing/2014/main" id="{1941C45F-44EE-48B2-B15B-D1A04B857C56}"/>
              </a:ext>
            </a:extLst>
          </p:cNvPr>
          <p:cNvSpPr>
            <a:spLocks xmlns:a="http://schemas.openxmlformats.org/drawingml/2006/main" noGrp="1"/>
          </p:cNvSpPr>
          <p:nvPr/>
        </p:nvSpPr>
        <p:spPr>
          <a:xfrm xmlns:a="http://schemas.openxmlformats.org/drawingml/2006/main">
            <a:off x="8458200" y="1965960"/>
            <a:ext cx="292608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7A1F2B"/>
                </a:solidFill>
                <a:latin typeface="Calibri"/>
                <a:ea typeface="Calibri"/>
                <a:cs typeface="Calibri"/>
              </a:rPr>
              <a:t>Evidence captured</a:t>
            </a:r>
            <a:endParaRPr sz="1300"/>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ab6386160b314ddf"/>
          <a:stretch xmlns:a="http://schemas.openxmlformats.org/drawingml/2006/main">
            <a:fillRect l="0" t="0" r="0" b="0"/>
          </a:stretch>
        </p:blipFill>
        <p:spPr>
          <a:xfrm xmlns:a="http://schemas.openxmlformats.org/drawingml/2006/main">
            <a:off x="9189720" y="2377440"/>
            <a:ext cx="1600200" cy="3007605"/>
          </a:xfrm>
          <a:prstGeom xmlns:a="http://schemas.openxmlformats.org/drawingml/2006/main" prst="rect">
            <a:avLst/>
          </a:prstGeom>
        </p:spPr>
      </p:pic>
      <p:sp>
        <p:nvSpPr>
          <p:cNvPr id="43" name="Text 40">
            <a:extLst xmlns:a="http://schemas.openxmlformats.org/drawingml/2006/main">
              <a:ext uri="{FF2B5EF4-FFF2-40B4-BE49-F238E27FC236}">
                <a16:creationId xmlns:a16="http://schemas.microsoft.com/office/drawing/2014/main" id="{2653B2B3-AC3B-48D3-A331-D217BB020708}"/>
              </a:ext>
            </a:extLst>
          </p:cNvPr>
          <p:cNvSpPr>
            <a:spLocks xmlns:a="http://schemas.openxmlformats.org/drawingml/2006/main" noGrp="1"/>
          </p:cNvSpPr>
          <p:nvPr/>
        </p:nvSpPr>
        <p:spPr>
          <a:xfrm xmlns:a="http://schemas.openxmlformats.org/drawingml/2006/main">
            <a:off x="8458200" y="5989320"/>
            <a:ext cx="3017520" cy="594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050" i="1">
                <a:solidFill>
                  <a:srgbClr val="5B5B5B"/>
                </a:solidFill>
                <a:latin typeface="Calibri"/>
                <a:ea typeface="Calibri"/>
                <a:cs typeface="Calibri"/>
              </a:rPr>
              <a:t>Recorded donation — Natasha Xavier, O+</a:t>
            </a:r>
            <a:endParaRPr sz="1050"/>
          </a:p>
        </p:txBody>
      </p:sp>
      <p:sp>
        <p:nvSpPr>
          <p:cNvPr id="44" name="Text 41">
            <a:extLst xmlns:a="http://schemas.openxmlformats.org/drawingml/2006/main">
              <a:ext uri="{FF2B5EF4-FFF2-40B4-BE49-F238E27FC236}">
                <a16:creationId xmlns:a16="http://schemas.microsoft.com/office/drawing/2014/main" id="{261685C9-79E4-4707-95F1-6092237312F5}"/>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11</a:t>
            </a:r>
            <a:endParaRPr sz="1000"/>
          </a:p>
        </p:txBody>
      </p:sp>
    </p:spTree>
    <p:extLst>
      <p:ext uri="{BB962C8B-B14F-4D97-AF65-F5344CB8AC3E}">
        <p14:creationId xmlns:p14="http://schemas.microsoft.com/office/powerpoint/2010/main" val="6849054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F9ECE5-6D31-4C5B-AFFE-57F281AC64EB}"/>
              </a:ext>
            </a:extLst>
          </p:cNvPr>
          <p:cNvSpPr>
            <a:spLocks xmlns:a="http://schemas.openxmlformats.org/drawingml/2006/main" noGrp="1"/>
          </p:cNvSpPr>
          <p:nvPr/>
        </p:nvSpPr>
        <p:spPr>
          <a:xfrm xmlns:a="http://schemas.openxmlformats.org/drawingml/2006/main">
            <a:off x="548640"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7A1F2B"/>
                </a:solidFill>
                <a:latin typeface="Calibri"/>
                <a:ea typeface="Calibri"/>
                <a:cs typeface="Calibri"/>
              </a:rPr>
              <a:t>WRAPPING UP</a:t>
            </a:r>
            <a:endParaRPr sz="1200"/>
          </a:p>
        </p:txBody>
      </p:sp>
      <p:sp>
        <p:nvSpPr>
          <p:cNvPr id="3" name="Text 1">
            <a:extLst xmlns:a="http://schemas.openxmlformats.org/drawingml/2006/main">
              <a:ext uri="{FF2B5EF4-FFF2-40B4-BE49-F238E27FC236}">
                <a16:creationId xmlns:a16="http://schemas.microsoft.com/office/drawing/2014/main" id="{AE72F143-6B0D-43B7-9211-163A4B67DC37}"/>
              </a:ext>
            </a:extLst>
          </p:cNvPr>
          <p:cNvSpPr>
            <a:spLocks xmlns:a="http://schemas.openxmlformats.org/drawingml/2006/main" noGrp="1"/>
          </p:cNvSpPr>
          <p:nvPr/>
        </p:nvSpPr>
        <p:spPr>
          <a:xfrm xmlns:a="http://schemas.openxmlformats.org/drawingml/2006/main">
            <a:off x="548640" y="621792"/>
            <a:ext cx="11064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1A1A"/>
                </a:solidFill>
                <a:latin typeface="Cambria"/>
                <a:ea typeface="Cambria"/>
                <a:cs typeface="Cambria"/>
              </a:rPr>
              <a:t>Conclusion &amp; recommendations</a:t>
            </a:r>
            <a:endParaRPr sz="3000"/>
          </a:p>
        </p:txBody>
      </p:sp>
      <p:sp>
        <p:nvSpPr>
          <p:cNvPr id="4" name="Shape 2">
            <a:extLst xmlns:a="http://schemas.openxmlformats.org/drawingml/2006/main">
              <a:ext uri="{FF2B5EF4-FFF2-40B4-BE49-F238E27FC236}">
                <a16:creationId xmlns:a16="http://schemas.microsoft.com/office/drawing/2014/main" id="{69188CF5-1818-4A81-B2DC-77A992D00549}"/>
              </a:ext>
            </a:extLst>
          </p:cNvPr>
          <p:cNvSpPr>
            <a:spLocks xmlns:a="http://schemas.openxmlformats.org/drawingml/2006/main" noGrp="1"/>
          </p:cNvSpPr>
          <p:nvPr/>
        </p:nvSpPr>
        <p:spPr>
          <a:xfrm xmlns:a="http://schemas.openxmlformats.org/drawingml/2006/main">
            <a:off x="548640" y="1691640"/>
            <a:ext cx="5394960" cy="4480560"/>
          </a:xfrm>
          <a:prstGeom xmlns:a="http://schemas.openxmlformats.org/drawingml/2006/main" prst="roundRect">
            <a:avLst>
              <a:gd name="adj" fmla="val 2449"/>
            </a:avLst>
          </a:prstGeom>
          <a:solidFill xmlns:a="http://schemas.openxmlformats.org/drawingml/2006/main">
            <a:srgbClr val="F7EDEE"/>
          </a:solidFill>
        </p:spPr>
      </p:sp>
      <p:sp>
        <p:nvSpPr>
          <p:cNvPr id="5" name="Text 3">
            <a:extLst xmlns:a="http://schemas.openxmlformats.org/drawingml/2006/main">
              <a:ext uri="{FF2B5EF4-FFF2-40B4-BE49-F238E27FC236}">
                <a16:creationId xmlns:a16="http://schemas.microsoft.com/office/drawing/2014/main" id="{885889FD-94AD-4F9E-B49B-1CFE36E2949F}"/>
              </a:ext>
            </a:extLst>
          </p:cNvPr>
          <p:cNvSpPr>
            <a:spLocks xmlns:a="http://schemas.openxmlformats.org/drawingml/2006/main" noGrp="1"/>
          </p:cNvSpPr>
          <p:nvPr/>
        </p:nvSpPr>
        <p:spPr>
          <a:xfrm xmlns:a="http://schemas.openxmlformats.org/drawingml/2006/main">
            <a:off x="822960" y="1920240"/>
            <a:ext cx="4846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A1F2B"/>
                </a:solidFill>
                <a:latin typeface="Calibri"/>
                <a:ea typeface="Calibri"/>
                <a:cs typeface="Calibri"/>
              </a:rPr>
              <a:t>Conclusion</a:t>
            </a:r>
            <a:endParaRPr sz="1600"/>
          </a:p>
        </p:txBody>
      </p:sp>
      <p:sp>
        <p:nvSpPr>
          <p:cNvPr id="6" name="Text 4">
            <a:extLst xmlns:a="http://schemas.openxmlformats.org/drawingml/2006/main">
              <a:ext uri="{FF2B5EF4-FFF2-40B4-BE49-F238E27FC236}">
                <a16:creationId xmlns:a16="http://schemas.microsoft.com/office/drawing/2014/main" id="{4E32F372-E872-4DC7-99F3-A782890F32FB}"/>
              </a:ext>
            </a:extLst>
          </p:cNvPr>
          <p:cNvSpPr>
            <a:spLocks xmlns:a="http://schemas.openxmlformats.org/drawingml/2006/main" noGrp="1"/>
          </p:cNvSpPr>
          <p:nvPr/>
        </p:nvSpPr>
        <p:spPr>
          <a:xfrm xmlns:a="http://schemas.openxmlformats.org/drawingml/2006/main">
            <a:off x="822960" y="2331720"/>
            <a:ext cx="484632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30000"/>
              </a:lnSpc>
              <a:buNone/>
            </a:pPr>
            <a:r>
              <a:rPr sz="1350">
                <a:solidFill>
                  <a:srgbClr val="1A1A1A"/>
                </a:solidFill>
                <a:latin typeface="Calibri"/>
                <a:ea typeface="Calibri"/>
                <a:cs typeface="Calibri"/>
              </a:rPr>
              <a:t>Combining structured inventory management with AI-based demand forecasting and automated donor notification gives NBTS earlier visibility of shortages and a faster way to reach eligible donors — while medical screening stays with qualified staff.</a:t>
            </a:r>
            <a:endParaRPr sz="1350"/>
          </a:p>
        </p:txBody>
      </p:sp>
      <p:sp>
        <p:nvSpPr>
          <p:cNvPr id="7" name="Shape 5">
            <a:extLst xmlns:a="http://schemas.openxmlformats.org/drawingml/2006/main">
              <a:ext uri="{FF2B5EF4-FFF2-40B4-BE49-F238E27FC236}">
                <a16:creationId xmlns:a16="http://schemas.microsoft.com/office/drawing/2014/main" id="{34DD6C24-307E-4C16-A9B9-006C09A49790}"/>
              </a:ext>
            </a:extLst>
          </p:cNvPr>
          <p:cNvSpPr>
            <a:spLocks xmlns:a="http://schemas.openxmlformats.org/drawingml/2006/main" noGrp="1"/>
          </p:cNvSpPr>
          <p:nvPr/>
        </p:nvSpPr>
        <p:spPr>
          <a:xfrm xmlns:a="http://schemas.openxmlformats.org/drawingml/2006/main">
            <a:off x="6217920" y="1691640"/>
            <a:ext cx="5394960" cy="4480560"/>
          </a:xfrm>
          <a:prstGeom xmlns:a="http://schemas.openxmlformats.org/drawingml/2006/main" prst="roundRect">
            <a:avLst>
              <a:gd name="adj" fmla="val 2449"/>
            </a:avLst>
          </a:prstGeom>
          <a:solidFill xmlns:a="http://schemas.openxmlformats.org/drawingml/2006/main">
            <a:srgbClr val="EEF1F6"/>
          </a:solidFill>
        </p:spPr>
      </p:sp>
      <p:sp>
        <p:nvSpPr>
          <p:cNvPr id="8" name="Text 6">
            <a:extLst xmlns:a="http://schemas.openxmlformats.org/drawingml/2006/main">
              <a:ext uri="{FF2B5EF4-FFF2-40B4-BE49-F238E27FC236}">
                <a16:creationId xmlns:a16="http://schemas.microsoft.com/office/drawing/2014/main" id="{43E6EC5F-8151-409B-BB58-A89A46DAF187}"/>
              </a:ext>
            </a:extLst>
          </p:cNvPr>
          <p:cNvSpPr>
            <a:spLocks xmlns:a="http://schemas.openxmlformats.org/drawingml/2006/main" noGrp="1"/>
          </p:cNvSpPr>
          <p:nvPr/>
        </p:nvSpPr>
        <p:spPr>
          <a:xfrm xmlns:a="http://schemas.openxmlformats.org/drawingml/2006/main">
            <a:off x="6492240" y="1920240"/>
            <a:ext cx="4846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2E4374"/>
                </a:solidFill>
                <a:latin typeface="Calibri"/>
                <a:ea typeface="Calibri"/>
                <a:cs typeface="Calibri"/>
              </a:rPr>
              <a:t>Recommendations</a:t>
            </a:r>
            <a:endParaRPr sz="1600"/>
          </a:p>
        </p:txBody>
      </p:sp>
      <p:sp>
        <p:nvSpPr>
          <p:cNvPr id="9" name="Text 7">
            <a:extLst xmlns:a="http://schemas.openxmlformats.org/drawingml/2006/main">
              <a:ext uri="{FF2B5EF4-FFF2-40B4-BE49-F238E27FC236}">
                <a16:creationId xmlns:a16="http://schemas.microsoft.com/office/drawing/2014/main" id="{8925A807-1ECA-483D-8E0C-584A15E6F539}"/>
              </a:ext>
            </a:extLst>
          </p:cNvPr>
          <p:cNvSpPr>
            <a:spLocks xmlns:a="http://schemas.openxmlformats.org/drawingml/2006/main" noGrp="1"/>
          </p:cNvSpPr>
          <p:nvPr/>
        </p:nvSpPr>
        <p:spPr>
          <a:xfrm xmlns:a="http://schemas.openxmlformats.org/drawingml/2006/main">
            <a:off x="6492240" y="2377440"/>
            <a:ext cx="4846320" cy="36576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Authorise access to full historical data to retrain &amp; validate the forecast model</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Pilot at a limited number of donation centres before wider rollout</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Complete Hospital Staff facility-scope and live notification-provider testing</a:t>
            </a:r>
            <a:endParaRPr sz="1300"/>
          </a:p>
          <a:p xmlns:a="http://schemas.openxmlformats.org/drawingml/2006/main">
            <a:pPr marL="228600" indent="-228600">
              <a:lnSpc>
                <a:spcPct val="120000"/>
              </a:lnSpc>
              <a:spcAft>
                <a:spcPts val="1800"/>
              </a:spcAft>
              <a:buSzPct val="100000"/>
              <a:buChar char="●"/>
            </a:pPr>
            <a:r>
              <a:rPr sz="1300">
                <a:solidFill>
                  <a:srgbClr val="1A1A1A"/>
                </a:solidFill>
                <a:latin typeface="Calibri"/>
                <a:ea typeface="Calibri"/>
                <a:cs typeface="Calibri"/>
              </a:rPr>
              <a:t>Provide staff training on interpreting AI forecasts as decision support</a:t>
            </a:r>
            <a:endParaRPr sz="1300"/>
          </a:p>
        </p:txBody>
      </p:sp>
      <p:sp>
        <p:nvSpPr>
          <p:cNvPr id="10" name="Text 8">
            <a:extLst xmlns:a="http://schemas.openxmlformats.org/drawingml/2006/main">
              <a:ext uri="{FF2B5EF4-FFF2-40B4-BE49-F238E27FC236}">
                <a16:creationId xmlns:a16="http://schemas.microsoft.com/office/drawing/2014/main" id="{10BA4418-CAF4-4CA8-BA9F-2EE4B979182E}"/>
              </a:ext>
            </a:extLst>
          </p:cNvPr>
          <p:cNvSpPr>
            <a:spLocks xmlns:a="http://schemas.openxmlformats.org/drawingml/2006/main" noGrp="1"/>
          </p:cNvSpPr>
          <p:nvPr/>
        </p:nvSpPr>
        <p:spPr>
          <a:xfrm xmlns:a="http://schemas.openxmlformats.org/drawingml/2006/main">
            <a:off x="11521440" y="6492240"/>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5B5B"/>
                </a:solidFill>
                <a:latin typeface="Calibri"/>
                <a:ea typeface="Calibri"/>
                <a:cs typeface="Calibri"/>
              </a:rPr>
              <a:t>12</a:t>
            </a:r>
            <a:endParaRPr sz="1000"/>
          </a:p>
        </p:txBody>
      </p:sp>
    </p:spTree>
    <p:extLst>
      <p:ext uri="{BB962C8B-B14F-4D97-AF65-F5344CB8AC3E}">
        <p14:creationId xmlns:p14="http://schemas.microsoft.com/office/powerpoint/2010/main" val="415194621"/>
      </p:ext>
    </p:extLst>
  </p:cSld>
</p:sld>
</file>

<file path=ppt/slides/slide13.xml><?xml version="1.0" encoding="utf-8"?>
<p:sld xmlns:p="http://schemas.openxmlformats.org/presentationml/2006/main">
  <p:cSld>
    <p:bg>
      <p:bgPr>
        <a:solidFill xmlns:a="http://schemas.openxmlformats.org/drawingml/2006/main">
          <a:srgbClr val="7A1F2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53D1BC-3714-4743-A910-B82039673D2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7A1F2B"/>
          </a:solidFill>
        </p:spPr>
      </p:sp>
      <p:pic>
        <p:nvPicPr>
          <p:cNvPr id="9" name="Image 0"/>
          <p:cNvPicPr>
            <a:picLocks xmlns:a="http://schemas.openxmlformats.org/drawingml/2006/main" noChangeAspect="1"/>
          </p:cNvPicPr>
          <p:nvPr/>
        </p:nvPicPr>
        <p:blipFill>
          <a:blip xmlns:r="http://schemas.openxmlformats.org/officeDocument/2006/relationships" xmlns:a="http://schemas.openxmlformats.org/drawingml/2006/main" r:embed="R9224aa3a5e634f55"/>
          <a:stretch xmlns:a="http://schemas.openxmlformats.org/drawingml/2006/main">
            <a:fillRect l="0" t="0" r="0" b="0"/>
          </a:stretch>
        </p:blipFill>
        <p:spPr>
          <a:xfrm xmlns:a="http://schemas.openxmlformats.org/drawingml/2006/main">
            <a:off x="5486400" y="1188720"/>
            <a:ext cx="1188720" cy="784049"/>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C360B512-DE9E-4F14-BAEA-46D543FE68F8}"/>
              </a:ext>
            </a:extLst>
          </p:cNvPr>
          <p:cNvSpPr>
            <a:spLocks xmlns:a="http://schemas.openxmlformats.org/drawingml/2006/main" noGrp="1"/>
          </p:cNvSpPr>
          <p:nvPr/>
        </p:nvSpPr>
        <p:spPr>
          <a:xfrm xmlns:a="http://schemas.openxmlformats.org/drawingml/2006/main">
            <a:off x="548640" y="2743200"/>
            <a:ext cx="1106424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Cambria"/>
                <a:ea typeface="Cambria"/>
                <a:cs typeface="Cambria"/>
              </a:rPr>
              <a:t>Thank You</a:t>
            </a:r>
            <a:endParaRPr sz="4400"/>
          </a:p>
        </p:txBody>
      </p:sp>
      <p:sp>
        <p:nvSpPr>
          <p:cNvPr id="5" name="Text 2">
            <a:extLst xmlns:a="http://schemas.openxmlformats.org/drawingml/2006/main">
              <a:ext uri="{FF2B5EF4-FFF2-40B4-BE49-F238E27FC236}">
                <a16:creationId xmlns:a16="http://schemas.microsoft.com/office/drawing/2014/main" id="{D9D748CD-CA02-4F6B-AD94-1CCC3762D329}"/>
              </a:ext>
            </a:extLst>
          </p:cNvPr>
          <p:cNvSpPr>
            <a:spLocks xmlns:a="http://schemas.openxmlformats.org/drawingml/2006/main" noGrp="1"/>
          </p:cNvSpPr>
          <p:nvPr/>
        </p:nvSpPr>
        <p:spPr>
          <a:xfrm xmlns:a="http://schemas.openxmlformats.org/drawingml/2006/main">
            <a:off x="548640" y="3611880"/>
            <a:ext cx="110642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800" i="1">
                <a:solidFill>
                  <a:srgbClr val="E7C7CC"/>
                </a:solidFill>
                <a:latin typeface="Calibri"/>
                <a:ea typeface="Calibri"/>
                <a:cs typeface="Calibri"/>
              </a:rPr>
              <a:t>Questions &amp; Discussion</a:t>
            </a:r>
            <a:endParaRPr sz="1800"/>
          </a:p>
        </p:txBody>
      </p:sp>
      <p:sp>
        <p:nvSpPr>
          <p:cNvPr id="6" name="Text 3">
            <a:extLst xmlns:a="http://schemas.openxmlformats.org/drawingml/2006/main">
              <a:ext uri="{FF2B5EF4-FFF2-40B4-BE49-F238E27FC236}">
                <a16:creationId xmlns:a16="http://schemas.microsoft.com/office/drawing/2014/main" id="{63F583F7-B350-485B-96D0-9E133FA2F6F5}"/>
              </a:ext>
            </a:extLst>
          </p:cNvPr>
          <p:cNvSpPr>
            <a:spLocks xmlns:a="http://schemas.openxmlformats.org/drawingml/2006/main" noGrp="1"/>
          </p:cNvSpPr>
          <p:nvPr/>
        </p:nvSpPr>
        <p:spPr>
          <a:xfrm xmlns:a="http://schemas.openxmlformats.org/drawingml/2006/main">
            <a:off x="548640" y="6035040"/>
            <a:ext cx="110642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CDA3A9"/>
                </a:solidFill>
                <a:latin typeface="Calibri"/>
                <a:ea typeface="Calibri"/>
                <a:cs typeface="Calibri"/>
              </a:rPr>
              <a:t>AI-Enhanced Blood Supply Prediction and Donor Notification System  —  NBTS, Tanzania</a:t>
            </a:r>
            <a:endParaRPr sz="1200"/>
          </a:p>
        </p:txBody>
      </p:sp>
    </p:spTree>
    <p:extLst>
      <p:ext uri="{BB962C8B-B14F-4D97-AF65-F5344CB8AC3E}">
        <p14:creationId xmlns:p14="http://schemas.microsoft.com/office/powerpoint/2010/main" val="4626711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2026-09-24T08:31:16.8160000Z</dcterms:created>
  <dcterms:modified xsi:type="dcterms:W3CDTF">2026-09-24T08:31:16.8160000Z</dcterms:modified>
</coreProperties>
</file>